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bf6682fb840f2" /><Relationship Type="http://schemas.openxmlformats.org/officeDocument/2006/relationships/extended-properties" Target="/docProps/app.xml" Id="R96630a94e2ed41fa" /><Relationship Type="http://schemas.openxmlformats.org/officeDocument/2006/relationships/officeDocument" Target="/ppt/presentation.xml" Id="Rfd282ed484b044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bfc71ed6e4e32"/>
  </p:sldMasterIdLst>
  <p:notesMasterIdLst>
    <p:notesMasterId xmlns:r="http://schemas.openxmlformats.org/officeDocument/2006/relationships" r:id="R44db354b9da6458f"/>
  </p:notesMasterIdLst>
  <p:sldIdLst>
    <p:sldId xmlns:r="http://schemas.openxmlformats.org/officeDocument/2006/relationships" id="256" r:id="R7b6ebe5c4a794d07"/>
    <p:sldId xmlns:r="http://schemas.openxmlformats.org/officeDocument/2006/relationships" id="257" r:id="R5cf153cfa8e34be4"/>
    <p:sldId xmlns:r="http://schemas.openxmlformats.org/officeDocument/2006/relationships" id="258" r:id="R52170b8fc12b4374"/>
    <p:sldId xmlns:r="http://schemas.openxmlformats.org/officeDocument/2006/relationships" id="259" r:id="R630f15560e4847aa"/>
    <p:sldId xmlns:r="http://schemas.openxmlformats.org/officeDocument/2006/relationships" id="260" r:id="R76b3a969fae74a46"/>
    <p:sldId xmlns:r="http://schemas.openxmlformats.org/officeDocument/2006/relationships" id="261" r:id="Reede5214179c48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dfc4791fc40c1" /><Relationship Type="http://schemas.openxmlformats.org/officeDocument/2006/relationships/slideMaster" Target="/ppt/slideMasters/slideMaster1.xml" Id="R10abfc71ed6e4e32" /><Relationship Type="http://schemas.openxmlformats.org/officeDocument/2006/relationships/notesMaster" Target="/ppt/notesMasters/notesMaster1.xml" Id="R44db354b9da6458f" /><Relationship Type="http://schemas.openxmlformats.org/officeDocument/2006/relationships/presProps" Target="/ppt/presProps.xml" Id="Rb1f2b49f8067492b" /><Relationship Type="http://schemas.openxmlformats.org/officeDocument/2006/relationships/tableStyles" Target="/ppt/tableStyles.xml" Id="R36d98bafacc848e7" /><Relationship Type="http://schemas.openxmlformats.org/officeDocument/2006/relationships/slide" Target="/ppt/slides/slide1.xml" Id="R7b6ebe5c4a794d07" /><Relationship Type="http://schemas.openxmlformats.org/officeDocument/2006/relationships/slide" Target="/ppt/slides/slide2.xml" Id="R5cf153cfa8e34be4" /><Relationship Type="http://schemas.openxmlformats.org/officeDocument/2006/relationships/slide" Target="/ppt/slides/slide3.xml" Id="R52170b8fc12b4374" /><Relationship Type="http://schemas.openxmlformats.org/officeDocument/2006/relationships/slide" Target="/ppt/slides/slide4.xml" Id="R630f15560e4847aa" /><Relationship Type="http://schemas.openxmlformats.org/officeDocument/2006/relationships/slide" Target="/ppt/slides/slide5.xml" Id="R76b3a969fae74a46" /><Relationship Type="http://schemas.openxmlformats.org/officeDocument/2006/relationships/slide" Target="/ppt/slides/slide6.xml" Id="Reede5214179c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f130a3eed4e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77059b90d445e" /><Relationship Type="http://schemas.openxmlformats.org/officeDocument/2006/relationships/notesMaster" Target="/ppt/notesMasters/notesMaster1.xml" Id="R5aa42593f24c40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2535f76b0d4f9c" /><Relationship Type="http://schemas.openxmlformats.org/officeDocument/2006/relationships/notesMaster" Target="/ppt/notesMasters/notesMaster1.xml" Id="R3b9717d7f171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0214681b8468f" /><Relationship Type="http://schemas.openxmlformats.org/officeDocument/2006/relationships/notesMaster" Target="/ppt/notesMasters/notesMaster1.xml" Id="R10858a83fbb244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23403253a24d6a" /><Relationship Type="http://schemas.openxmlformats.org/officeDocument/2006/relationships/notesMaster" Target="/ppt/notesMasters/notesMaster1.xml" Id="Rc06bd3f526704d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89d518bd5a48fe" /><Relationship Type="http://schemas.openxmlformats.org/officeDocument/2006/relationships/notesMaster" Target="/ppt/notesMasters/notesMaster1.xml" Id="R41b187fb839c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0f071d82ff4672" /><Relationship Type="http://schemas.openxmlformats.org/officeDocument/2006/relationships/notesMaster" Target="/ppt/notesMasters/notesMaster1.xml" Id="R2fd571c457b2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开场先说这篇文章的核心: 作者读完《人生设计课》后, 发现方法论很有启发, 但真正执行练习时缺少一个能持续提问和追问的人。</a:t>
            </a:r>
          </a:p>
          <a:p xmlns:a="http://schemas.openxmlformats.org/drawingml/2006/main">
            <a:r>
              <a:t>于是他把这套方法做成 Prompt, 让 AI 按阶段提问、追问、整理。注意这里的定位不是让 AI 直接决定人生, 而是帮助我们把已经存在但没被说清楚的东西梳理出来。</a:t>
            </a:r>
          </a:p>
          <a:p xmlns:a="http://schemas.openxmlformats.org/drawingml/2006/main">
            <a:r>
              <a:t>这一页只建立汇报的主命题: AI 不是答案机器, 更像一个把问题问到可行动的系统。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第二页解释痛点。文章里最关键的转折是: 书里的体系很完整, 但读完之后, 真正难的是一个人完成练习。</a:t>
            </a:r>
          </a:p>
          <a:p xmlns:a="http://schemas.openxmlformats.org/drawingml/2006/main">
            <a:r>
              <a:t>比如要写工作观、人生观, 回忆心流时刻, 区分擅长和热爱, 这些问题并不是看懂就会自然完成。没有持续追问, 很容易只得到表层答案。</a:t>
            </a:r>
          </a:p>
          <a:p xmlns:a="http://schemas.openxmlformats.org/drawingml/2006/main">
            <a:r>
              <a:t>所以这个 Prompt 的产品价值不在于包装一套新理论, 而在于把理论里的练习变成一个可持续推进的对话流程。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第三页把流程讲清楚。原文里提到 Prompt 的主线会控制在少量关键问题, 但会根据回答决定要不要继续追问。</a:t>
            </a:r>
          </a:p>
          <a:p xmlns:a="http://schemas.openxmlformats.org/drawingml/2006/main">
            <a:r>
              <a:t>这 6 个阶段可以这样理解: 先给现状定位, 再找工作观和人生观作为指南针, 接着通过心流和能量识别路线, 然后处理锚问题和重力问题, 最后做奥德赛计划和原型行动。</a:t>
            </a:r>
          </a:p>
          <a:p xmlns:a="http://schemas.openxmlformats.org/drawingml/2006/main">
            <a:r>
              <a:t>汇报时不要逐字解释每个阶段, 重点强调它们构成一条从自我认知到行动验证的链路。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第四页讲一个最有解释力的概念: 重力问题。文章里的意思是, 有些问题压根不是能被设计解决的, 比如年龄、行业天花板或者已经发生的处境。</a:t>
            </a:r>
          </a:p>
          <a:p xmlns:a="http://schemas.openxmlformats.org/drawingml/2006/main">
            <a:r>
              <a:t>如果把这些现实误当成问题, 人会一直原地打转。Prompt 的作用是把它们剥离出来, 然后把注意力转向可设计的部分。</a:t>
            </a:r>
          </a:p>
          <a:p xmlns:a="http://schemas.openxmlformats.org/drawingml/2006/main">
            <a:r>
              <a:t>在原文案例里, 更值得保护的是身体、判断力和继续探索新曲线的带宽。这就从抽象焦虑变成了更具体的设计目标。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第五页说明最终产物。Prompt 对话结束后, 它会生成一份人生设计蓝图, 里面包括当前状态、真正可设计的问题、指南针、能量地图、心流时刻和三个奥德赛计划。</a:t>
            </a:r>
          </a:p>
          <a:p xmlns:a="http://schemas.openxmlformats.org/drawingml/2006/main">
            <a:r>
              <a:t>这里要强调奥德赛计划不是凑一个 Plan B, 而是逼出多个都能成立的五年人生版本。好的选择来自足够多的选择。</a:t>
            </a:r>
          </a:p>
          <a:p xmlns:a="http://schemas.openxmlformats.org/drawingml/2006/main">
            <a:r>
              <a:t>最后更重要的是原型行动。不要试图在脑子里一次想清楚未来, 而是用最低成本做一个实验或一次对谈, 让方向通过行动变得更清楚。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收尾时把价值观讲清楚: 这个 Prompt 不承诺预测未来, 也不能凭空生成答案。它需要使用者给出足够真实、具体的信息。</a:t>
            </a:r>
          </a:p>
          <a:p xmlns:a="http://schemas.openxmlformats.org/drawingml/2006/main">
            <a:r>
              <a:t>它更像一个提问式雕刻过程。很多答案并不是 AI 新告诉你的, 而是通过一次又一次追问, 把你本来知道但没说清楚的东西逼出来。</a:t>
            </a:r>
          </a:p>
          <a:p xmlns:a="http://schemas.openxmlformats.org/drawingml/2006/main">
            <a:r>
              <a:t>最后给听众的行动建议很简单: 如果要试, 先认真回答, 允许 AI 追问, 想出不止一个生活版本, 然后马上做一个小原型。不要等完全想清楚才开始。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c4c02676e41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ade3ca00e43ce" /><Relationship Type="http://schemas.openxmlformats.org/officeDocument/2006/relationships/slideLayout" Target="/ppt/slideLayouts/slideLayout1.xml" Id="Rf889493a7f9b44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89493a7f9b44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cabd1a0e84c8a" /><Relationship Type="http://schemas.openxmlformats.org/officeDocument/2006/relationships/notesSlide" Target="/ppt/notesSlides/notesSlide1.xml" Id="R75ec450e8aa84d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d87ef87ae406a" /><Relationship Type="http://schemas.openxmlformats.org/officeDocument/2006/relationships/notesSlide" Target="/ppt/notesSlides/notesSlide2.xml" Id="Rcf20a5092a7943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3e5e947f4205" /><Relationship Type="http://schemas.openxmlformats.org/officeDocument/2006/relationships/notesSlide" Target="/ppt/notesSlides/notesSlide3.xml" Id="R140edc639f07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92c05dcb141c7" /><Relationship Type="http://schemas.openxmlformats.org/officeDocument/2006/relationships/notesSlide" Target="/ppt/notesSlides/notesSlide4.xml" Id="R5c66d4b023b2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ff93382504d6f" /><Relationship Type="http://schemas.openxmlformats.org/officeDocument/2006/relationships/notesSlide" Target="/ppt/notesSlides/notesSlide5.xml" Id="R320a3a5a4de041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24ebf2a044101" /><Relationship Type="http://schemas.openxmlformats.org/officeDocument/2006/relationships/notesSlide" Target="/ppt/notesSlides/notesSlide6.xml" Id="R7d6b51289552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7494C4D-C68D-4A97-B99C-A213E2F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AI LIFE DESIGN / 5 MIN TALK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9AADE9-5CF0-41D2-84CD-E6531A4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620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把人生设计课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变成 AI 追问系统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54517EE-74B9-4FE8-A4BD-8D3BC437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不是让 AI 替你选路, 而是把问题问到可行动。</a:t>
            </a:r>
          </a:p>
        </p:txBody>
      </p:sp>
      <p:sp>
        <p:nvSpPr>
          <p:cNvPr id="4" name="geo-blush">
            <a:extLst xmlns:a="http://schemas.openxmlformats.org/drawingml/2006/main">
              <a:ext uri="{FF2B5EF4-FFF2-40B4-BE49-F238E27FC236}">
                <a16:creationId xmlns:a16="http://schemas.microsoft.com/office/drawing/2014/main" id="{EB5260AB-5AC3-4484-BD76-95D280D7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1276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eo-olive">
            <a:extLst xmlns:a="http://schemas.openxmlformats.org/drawingml/2006/main">
              <a:ext uri="{FF2B5EF4-FFF2-40B4-BE49-F238E27FC236}">
                <a16:creationId xmlns:a16="http://schemas.microsoft.com/office/drawing/2014/main" id="{F8B3AF6C-E0A1-4895-B3CA-9157CB99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53050"/>
            <a:ext cx="1638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eo-lime-tall">
            <a:extLst xmlns:a="http://schemas.openxmlformats.org/drawingml/2006/main">
              <a:ext uri="{FF2B5EF4-FFF2-40B4-BE49-F238E27FC236}">
                <a16:creationId xmlns:a16="http://schemas.microsoft.com/office/drawing/2014/main" id="{AA8D649B-88FA-4F06-A5F1-3D7031B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14668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eo-lavender-wide">
            <a:extLst xmlns:a="http://schemas.openxmlformats.org/drawingml/2006/main">
              <a:ext uri="{FF2B5EF4-FFF2-40B4-BE49-F238E27FC236}">
                <a16:creationId xmlns:a16="http://schemas.microsoft.com/office/drawing/2014/main" id="{5008B589-E058-42C4-ACB3-DE185EE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2057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eo-gray">
            <a:extLst xmlns:a="http://schemas.openxmlformats.org/drawingml/2006/main">
              <a:ext uri="{FF2B5EF4-FFF2-40B4-BE49-F238E27FC236}">
                <a16:creationId xmlns:a16="http://schemas.microsoft.com/office/drawing/2014/main" id="{56FC2F9D-7C2B-405F-B6B3-D866135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21336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eo-coral">
            <a:extLst xmlns:a="http://schemas.openxmlformats.org/drawingml/2006/main">
              <a:ext uri="{FF2B5EF4-FFF2-40B4-BE49-F238E27FC236}">
                <a16:creationId xmlns:a16="http://schemas.microsoft.com/office/drawing/2014/main" id="{3A5D6529-3CE7-4922-9C06-55F2C7FE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14900"/>
            <a:ext cx="1104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eo-blue">
            <a:extLst xmlns:a="http://schemas.openxmlformats.org/drawingml/2006/main">
              <a:ext uri="{FF2B5EF4-FFF2-40B4-BE49-F238E27FC236}">
                <a16:creationId xmlns:a16="http://schemas.microsoft.com/office/drawing/2014/main" id="{F9A5C225-BE39-441F-8562-26BCBB35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38550"/>
            <a:ext cx="2000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eo-green-ellipse">
            <a:extLst xmlns:a="http://schemas.openxmlformats.org/drawingml/2006/main">
              <a:ext uri="{FF2B5EF4-FFF2-40B4-BE49-F238E27FC236}">
                <a16:creationId xmlns:a16="http://schemas.microsoft.com/office/drawing/2014/main" id="{513F06B1-714F-43AE-842F-C3798A7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F2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eo-wine-cap">
            <a:extLst xmlns:a="http://schemas.openxmlformats.org/drawingml/2006/main">
              <a:ext uri="{FF2B5EF4-FFF2-40B4-BE49-F238E27FC236}">
                <a16:creationId xmlns:a16="http://schemas.microsoft.com/office/drawing/2014/main" id="{85BE6E60-101A-4237-AFA0-268A7F16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57700"/>
            <a:ext cx="1123950" cy="1066800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7B1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1">
            <a:extLst xmlns:a="http://schemas.openxmlformats.org/drawingml/2006/main">
              <a:ext uri="{FF2B5EF4-FFF2-40B4-BE49-F238E27FC236}">
                <a16:creationId xmlns:a16="http://schemas.microsoft.com/office/drawing/2014/main" id="{6A919415-1D44-47AB-9956-624FFDF0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 / X POST PDF    01</a:t>
            </a:r>
          </a:p>
        </p:txBody>
      </p:sp>
    </p:spTree>
    <p:extLst>
      <p:ext uri="{BB962C8B-B14F-4D97-AF65-F5344CB8AC3E}">
        <p14:creationId xmlns:p14="http://schemas.microsoft.com/office/powerpoint/2010/main" val="1129023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B2AB493-FB98-427B-99B3-1DEC5A37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3AD089-B0B4-450B-B7AD-B353C7A1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495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真正的卡点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不是方法</a:t>
            </a:r>
          </a:p>
        </p:txBody>
      </p:sp>
      <p:sp>
        <p:nvSpPr>
          <p:cNvPr id="3" name="claim">
            <a:extLst xmlns:a="http://schemas.openxmlformats.org/drawingml/2006/main">
              <a:ext uri="{FF2B5EF4-FFF2-40B4-BE49-F238E27FC236}">
                <a16:creationId xmlns:a16="http://schemas.microsoft.com/office/drawing/2014/main" id="{7A4E8530-41EF-459F-A625-3ED8AA9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是缺一个人, 陪你把练习持续问下去。</a:t>
            </a:r>
          </a:p>
        </p:txBody>
      </p:sp>
      <p:sp>
        <p:nvSpPr>
          <p:cNvPr id="4" name="problem-1">
            <a:extLst xmlns:a="http://schemas.openxmlformats.org/drawingml/2006/main">
              <a:ext uri="{FF2B5EF4-FFF2-40B4-BE49-F238E27FC236}">
                <a16:creationId xmlns:a16="http://schemas.microsoft.com/office/drawing/2014/main" id="{96BB326F-92F3-4F67-9A3A-BD9AFC13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87630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228600" rIns="2095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懂了</a:t>
            </a:r>
          </a:p>
        </p:txBody>
      </p:sp>
      <p:sp>
        <p:nvSpPr>
          <p:cNvPr id="5" name="problem-2">
            <a:extLst xmlns:a="http://schemas.openxmlformats.org/drawingml/2006/main">
              <a:ext uri="{FF2B5EF4-FFF2-40B4-BE49-F238E27FC236}">
                <a16:creationId xmlns:a16="http://schemas.microsoft.com/office/drawing/2014/main" id="{454F3238-1A46-4B81-B3D0-CC0FEEB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5900"/>
            <a:ext cx="2266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228600" rIns="2095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练习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很多</a:t>
            </a:r>
          </a:p>
        </p:txBody>
      </p:sp>
      <p:sp>
        <p:nvSpPr>
          <p:cNvPr id="6" name="problem-3">
            <a:extLst xmlns:a="http://schemas.openxmlformats.org/drawingml/2006/main">
              <a:ext uri="{FF2B5EF4-FFF2-40B4-BE49-F238E27FC236}">
                <a16:creationId xmlns:a16="http://schemas.microsoft.com/office/drawing/2014/main" id="{3EA93194-4D40-43F3-B1D0-AF65EA6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52800"/>
            <a:ext cx="36004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47650" tIns="228600" rIns="247650" bIns="20955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1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没人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1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连续追问</a:t>
            </a:r>
          </a:p>
        </p:txBody>
      </p:sp>
      <p:sp>
        <p:nvSpPr>
          <p:cNvPr id="7" name="micro">
            <a:extLst xmlns:a="http://schemas.openxmlformats.org/drawingml/2006/main">
              <a:ext uri="{FF2B5EF4-FFF2-40B4-BE49-F238E27FC236}">
                <a16:creationId xmlns:a16="http://schemas.microsoft.com/office/drawing/2014/main" id="{C79607F6-528B-476A-BE99-FE881B8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8E8E8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E8E8E"/>
                </a:solidFill>
                <a:latin typeface="PingFang SC"/>
                <a:ea typeface="PingFang SC"/>
                <a:cs typeface="PingFang SC"/>
              </a:rPr>
              <a:t>练习如果停在表面, 方法就不会变成选择。</a:t>
            </a:r>
          </a:p>
        </p:txBody>
      </p:sp>
      <p:sp>
        <p:nvSpPr>
          <p:cNvPr id="8" name="geo-lime-low">
            <a:extLst xmlns:a="http://schemas.openxmlformats.org/drawingml/2006/main">
              <a:ext uri="{FF2B5EF4-FFF2-40B4-BE49-F238E27FC236}">
                <a16:creationId xmlns:a16="http://schemas.microsoft.com/office/drawing/2014/main" id="{EE7C3C50-F9C7-4417-AC27-5505F65A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eo-coral-low">
            <a:extLst xmlns:a="http://schemas.openxmlformats.org/drawingml/2006/main">
              <a:ext uri="{FF2B5EF4-FFF2-40B4-BE49-F238E27FC236}">
                <a16:creationId xmlns:a16="http://schemas.microsoft.com/office/drawing/2014/main" id="{683AEC8E-0A68-4557-A0F0-9528B5AF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86350"/>
            <a:ext cx="1809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eo-lavender-low">
            <a:extLst xmlns:a="http://schemas.openxmlformats.org/drawingml/2006/main">
              <a:ext uri="{FF2B5EF4-FFF2-40B4-BE49-F238E27FC236}">
                <a16:creationId xmlns:a16="http://schemas.microsoft.com/office/drawing/2014/main" id="{3CC7A5C3-24F6-47AD-A000-67D3DD9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673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eo-blue-low">
            <a:extLst xmlns:a="http://schemas.openxmlformats.org/drawingml/2006/main">
              <a:ext uri="{FF2B5EF4-FFF2-40B4-BE49-F238E27FC236}">
                <a16:creationId xmlns:a16="http://schemas.microsoft.com/office/drawing/2014/main" id="{25F4570A-916D-48B5-833B-65824132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62500"/>
            <a:ext cx="1714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eo-gray-low">
            <a:extLst xmlns:a="http://schemas.openxmlformats.org/drawingml/2006/main">
              <a:ext uri="{FF2B5EF4-FFF2-40B4-BE49-F238E27FC236}">
                <a16:creationId xmlns:a16="http://schemas.microsoft.com/office/drawing/2014/main" id="{60D80989-53D9-4114-8099-F5E4124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9590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eo-blush-low">
            <a:extLst xmlns:a="http://schemas.openxmlformats.org/drawingml/2006/main">
              <a:ext uri="{FF2B5EF4-FFF2-40B4-BE49-F238E27FC236}">
                <a16:creationId xmlns:a16="http://schemas.microsoft.com/office/drawing/2014/main" id="{62031D2E-5574-490C-B6CB-3771287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62450"/>
            <a:ext cx="2095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eo-green-low">
            <a:extLst xmlns:a="http://schemas.openxmlformats.org/drawingml/2006/main">
              <a:ext uri="{FF2B5EF4-FFF2-40B4-BE49-F238E27FC236}">
                <a16:creationId xmlns:a16="http://schemas.microsoft.com/office/drawing/2014/main" id="{F8D0DA93-6B77-4CB2-A7C1-82A8C37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F2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2">
            <a:extLst xmlns:a="http://schemas.openxmlformats.org/drawingml/2006/main">
              <a:ext uri="{FF2B5EF4-FFF2-40B4-BE49-F238E27FC236}">
                <a16:creationId xmlns:a16="http://schemas.microsoft.com/office/drawing/2014/main" id="{7040F1F4-2E0D-4A89-A741-B5323CA2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 / X POST PDF    02</a:t>
            </a:r>
          </a:p>
        </p:txBody>
      </p:sp>
    </p:spTree>
    <p:extLst>
      <p:ext uri="{BB962C8B-B14F-4D97-AF65-F5344CB8AC3E}">
        <p14:creationId xmlns:p14="http://schemas.microsoft.com/office/powerpoint/2010/main" val="1775616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80742A0-C172-4215-BA02-9F77678B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SYSTEM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F3691F-F44A-4BB7-ADE1-E7ABB15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Prompt 把人生设计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拆成 6 个阶段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894F03-1B77-4B02-8F1B-F75AD679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从当前状态开始, 一直推进到可验证的小行动。</a:t>
            </a:r>
          </a:p>
        </p:txBody>
      </p:sp>
      <p:sp>
        <p:nvSpPr>
          <p:cNvPr id="4" name="stage-01">
            <a:extLst xmlns:a="http://schemas.openxmlformats.org/drawingml/2006/main">
              <a:ext uri="{FF2B5EF4-FFF2-40B4-BE49-F238E27FC236}">
                <a16:creationId xmlns:a16="http://schemas.microsoft.com/office/drawing/2014/main" id="{FA594921-9DA2-4D6E-8E3B-3D9BE714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16764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71450" rIns="133350" bIns="11430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现状打分</a:t>
            </a:r>
          </a:p>
        </p:txBody>
      </p:sp>
      <p:sp>
        <p:nvSpPr>
          <p:cNvPr id="5" name="stage-desc-01">
            <a:extLst xmlns:a="http://schemas.openxmlformats.org/drawingml/2006/main">
              <a:ext uri="{FF2B5EF4-FFF2-40B4-BE49-F238E27FC236}">
                <a16:creationId xmlns:a16="http://schemas.microsoft.com/office/drawing/2014/main" id="{99273B3E-9555-441B-9F19-510C022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健康 / 工作 / 娱乐 / 爱</a:t>
            </a:r>
          </a:p>
        </p:txBody>
      </p:sp>
      <p:sp>
        <p:nvSpPr>
          <p:cNvPr id="6" name="stage-02">
            <a:extLst xmlns:a="http://schemas.openxmlformats.org/drawingml/2006/main">
              <a:ext uri="{FF2B5EF4-FFF2-40B4-BE49-F238E27FC236}">
                <a16:creationId xmlns:a16="http://schemas.microsoft.com/office/drawing/2014/main" id="{4DB1E7D1-3320-47F8-B4E1-32446E76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1676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71450" rIns="133350" bIns="11430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找到指南针</a:t>
            </a:r>
          </a:p>
        </p:txBody>
      </p:sp>
      <p:sp>
        <p:nvSpPr>
          <p:cNvPr id="7" name="stage-desc-02">
            <a:extLst xmlns:a="http://schemas.openxmlformats.org/drawingml/2006/main">
              <a:ext uri="{FF2B5EF4-FFF2-40B4-BE49-F238E27FC236}">
                <a16:creationId xmlns:a16="http://schemas.microsoft.com/office/drawing/2014/main" id="{8B8B87FD-2CF2-4B7C-AECE-4CFC0577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911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工作观和人生观</a:t>
            </a:r>
          </a:p>
        </p:txBody>
      </p:sp>
      <p:sp>
        <p:nvSpPr>
          <p:cNvPr id="8" name="stage-03">
            <a:extLst xmlns:a="http://schemas.openxmlformats.org/drawingml/2006/main">
              <a:ext uri="{FF2B5EF4-FFF2-40B4-BE49-F238E27FC236}">
                <a16:creationId xmlns:a16="http://schemas.microsoft.com/office/drawing/2014/main" id="{03889C1C-92ED-49EE-BF06-386C8956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1676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71450" rIns="133350" bIns="11430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心流寻路</a:t>
            </a:r>
          </a:p>
        </p:txBody>
      </p:sp>
      <p:sp>
        <p:nvSpPr>
          <p:cNvPr id="9" name="stage-desc-03">
            <a:extLst xmlns:a="http://schemas.openxmlformats.org/drawingml/2006/main">
              <a:ext uri="{FF2B5EF4-FFF2-40B4-BE49-F238E27FC236}">
                <a16:creationId xmlns:a16="http://schemas.microsoft.com/office/drawing/2014/main" id="{F97BF9AF-3BE5-494F-93CC-2146D7D1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区分能量和消耗</a:t>
            </a:r>
          </a:p>
        </p:txBody>
      </p:sp>
      <p:sp>
        <p:nvSpPr>
          <p:cNvPr id="10" name="stage-04">
            <a:extLst xmlns:a="http://schemas.openxmlformats.org/drawingml/2006/main">
              <a:ext uri="{FF2B5EF4-FFF2-40B4-BE49-F238E27FC236}">
                <a16:creationId xmlns:a16="http://schemas.microsoft.com/office/drawing/2014/main" id="{1707F5EE-0B6D-4B26-BEA3-3E04342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24350"/>
            <a:ext cx="1676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A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71450" rIns="133350" bIns="11430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锚问题</a:t>
            </a:r>
          </a:p>
        </p:txBody>
      </p:sp>
      <p:sp>
        <p:nvSpPr>
          <p:cNvPr id="11" name="stage-desc-04">
            <a:extLst xmlns:a="http://schemas.openxmlformats.org/drawingml/2006/main">
              <a:ext uri="{FF2B5EF4-FFF2-40B4-BE49-F238E27FC236}">
                <a16:creationId xmlns:a16="http://schemas.microsoft.com/office/drawing/2014/main" id="{9C2324BC-44FD-4A9C-832B-4D6F63B1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149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困住你的执念</a:t>
            </a:r>
          </a:p>
        </p:txBody>
      </p:sp>
      <p:sp>
        <p:nvSpPr>
          <p:cNvPr id="12" name="stage-05">
            <a:extLst xmlns:a="http://schemas.openxmlformats.org/drawingml/2006/main">
              <a:ext uri="{FF2B5EF4-FFF2-40B4-BE49-F238E27FC236}">
                <a16:creationId xmlns:a16="http://schemas.microsoft.com/office/drawing/2014/main" id="{BE77C95C-66B7-4E72-8E12-36D4CF8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16764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71450" rIns="133350" bIns="11430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奥德赛计划</a:t>
            </a:r>
          </a:p>
        </p:txBody>
      </p:sp>
      <p:sp>
        <p:nvSpPr>
          <p:cNvPr id="13" name="stage-desc-05">
            <a:extLst xmlns:a="http://schemas.openxmlformats.org/drawingml/2006/main">
              <a:ext uri="{FF2B5EF4-FFF2-40B4-BE49-F238E27FC236}">
                <a16:creationId xmlns:a16="http://schemas.microsoft.com/office/drawing/2014/main" id="{521E8156-9788-4CF9-A325-D66A544B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CD8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CD8FF"/>
                </a:solidFill>
                <a:latin typeface="PingFang SC"/>
                <a:ea typeface="PingFang SC"/>
                <a:cs typeface="PingFang SC"/>
              </a:rPr>
              <a:t>三个五年版本</a:t>
            </a:r>
          </a:p>
        </p:txBody>
      </p:sp>
      <p:sp>
        <p:nvSpPr>
          <p:cNvPr id="14" name="stage-06">
            <a:extLst xmlns:a="http://schemas.openxmlformats.org/drawingml/2006/main">
              <a:ext uri="{FF2B5EF4-FFF2-40B4-BE49-F238E27FC236}">
                <a16:creationId xmlns:a16="http://schemas.microsoft.com/office/drawing/2014/main" id="{78F3EDC9-74D1-4BDC-83F3-9B4139D9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71950"/>
            <a:ext cx="1676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F2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71450" rIns="133350" bIns="11430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06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原型行动</a:t>
            </a:r>
          </a:p>
        </p:txBody>
      </p:sp>
      <p:sp>
        <p:nvSpPr>
          <p:cNvPr id="15" name="stage-desc-06">
            <a:extLst xmlns:a="http://schemas.openxmlformats.org/drawingml/2006/main">
              <a:ext uri="{FF2B5EF4-FFF2-40B4-BE49-F238E27FC236}">
                <a16:creationId xmlns:a16="http://schemas.microsoft.com/office/drawing/2014/main" id="{0D407722-0F0F-4095-BEF8-61640F81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低成本验证</a:t>
            </a:r>
          </a:p>
        </p:txBody>
      </p:sp>
      <p:sp>
        <p:nvSpPr>
          <p:cNvPr id="16" name="note-line">
            <a:extLst xmlns:a="http://schemas.openxmlformats.org/drawingml/2006/main">
              <a:ext uri="{FF2B5EF4-FFF2-40B4-BE49-F238E27FC236}">
                <a16:creationId xmlns:a16="http://schemas.microsoft.com/office/drawing/2014/main" id="{6DA51241-0EE7-4C07-8AFD-66952E98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8E8E8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E8E8E"/>
                </a:solidFill>
                <a:latin typeface="PingFang SC"/>
                <a:ea typeface="PingFang SC"/>
                <a:cs typeface="PingFang SC"/>
              </a:rPr>
              <a:t>主线问题控制在少量关键节点, 再根据回答决定是否追问。</a:t>
            </a:r>
          </a:p>
        </p:txBody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0E7F8D43-8E70-49E2-B77A-41675CFC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 / X POST PDF    03</a:t>
            </a:r>
          </a:p>
        </p:txBody>
      </p:sp>
    </p:spTree>
    <p:extLst>
      <p:ext uri="{BB962C8B-B14F-4D97-AF65-F5344CB8AC3E}">
        <p14:creationId xmlns:p14="http://schemas.microsoft.com/office/powerpoint/2010/main" val="1364212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6EB983B-BF3B-44EB-83C5-2E19CA9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KEY JUDGMENT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F0EAE9-B2F3-4100-A3C4-5270C19E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6572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先把重力问题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剥离出来</a:t>
            </a:r>
          </a:p>
        </p:txBody>
      </p:sp>
      <p:sp>
        <p:nvSpPr>
          <p:cNvPr id="3" name="claim">
            <a:extLst xmlns:a="http://schemas.openxmlformats.org/drawingml/2006/main">
              <a:ext uri="{FF2B5EF4-FFF2-40B4-BE49-F238E27FC236}">
                <a16:creationId xmlns:a16="http://schemas.microsoft.com/office/drawing/2014/main" id="{902A1DBE-08C2-4F75-BA17-9C550D9C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无法改变的现实不是设计对象, 可行动的问题才是。</a:t>
            </a:r>
          </a:p>
        </p:txBody>
      </p:sp>
      <p:sp>
        <p:nvSpPr>
          <p:cNvPr id="4" name="reality">
            <a:extLst xmlns:a="http://schemas.openxmlformats.org/drawingml/2006/main">
              <a:ext uri="{FF2B5EF4-FFF2-40B4-BE49-F238E27FC236}">
                <a16:creationId xmlns:a16="http://schemas.microsoft.com/office/drawing/2014/main" id="{1866C43E-DC92-438E-BB81-47EFA83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476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A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47650" tIns="228600" rIns="247650" bIns="228600" anchor="ctr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REALITY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年龄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行业上限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已经发生的处境</a:t>
            </a:r>
          </a:p>
        </p:txBody>
      </p:sp>
      <p:sp>
        <p:nvSpPr>
          <p:cNvPr id="5" name="design">
            <a:extLst xmlns:a="http://schemas.openxmlformats.org/drawingml/2006/main">
              <a:ext uri="{FF2B5EF4-FFF2-40B4-BE49-F238E27FC236}">
                <a16:creationId xmlns:a16="http://schemas.microsoft.com/office/drawing/2014/main" id="{6CD8E983-EE7D-41BC-897C-2930309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66700" tIns="228600" rIns="266700" bIns="228600" anchor="ctr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DESIGN PROBLEM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身体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判断力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继续探索新曲线的带宽</a:t>
            </a:r>
          </a:p>
        </p:txBody>
      </p:sp>
      <p:sp>
        <p:nvSpPr>
          <p:cNvPr id="6" name="bridge">
            <a:extLst xmlns:a="http://schemas.openxmlformats.org/drawingml/2006/main">
              <a:ext uri="{FF2B5EF4-FFF2-40B4-BE49-F238E27FC236}">
                <a16:creationId xmlns:a16="http://schemas.microsoft.com/office/drawing/2014/main" id="{FF3DBC1F-DBA1-4CD0-BF3C-F2AE3FB6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71950"/>
            <a:ext cx="819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52400" rIns="152400" bIns="1524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换题</a:t>
            </a:r>
          </a:p>
        </p:txBody>
      </p:sp>
      <p:sp>
        <p:nvSpPr>
          <p:cNvPr id="7" name="blue-tab">
            <a:extLst xmlns:a="http://schemas.openxmlformats.org/drawingml/2006/main">
              <a:ext uri="{FF2B5EF4-FFF2-40B4-BE49-F238E27FC236}">
                <a16:creationId xmlns:a16="http://schemas.microsoft.com/office/drawing/2014/main" id="{748B51BD-8272-4A70-ADE2-677C33AE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76550"/>
            <a:ext cx="10477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nk-dot">
            <a:extLst xmlns:a="http://schemas.openxmlformats.org/drawingml/2006/main">
              <a:ext uri="{FF2B5EF4-FFF2-40B4-BE49-F238E27FC236}">
                <a16:creationId xmlns:a16="http://schemas.microsoft.com/office/drawing/2014/main" id="{28D26AF5-048B-456B-9FCF-B986979C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054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4">
            <a:extLst xmlns:a="http://schemas.openxmlformats.org/drawingml/2006/main">
              <a:ext uri="{FF2B5EF4-FFF2-40B4-BE49-F238E27FC236}">
                <a16:creationId xmlns:a16="http://schemas.microsoft.com/office/drawing/2014/main" id="{DCC0D446-C00B-40D0-BA5D-54E4963B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 / X POST PDF    04</a:t>
            </a:r>
          </a:p>
        </p:txBody>
      </p:sp>
    </p:spTree>
    <p:extLst>
      <p:ext uri="{BB962C8B-B14F-4D97-AF65-F5344CB8AC3E}">
        <p14:creationId xmlns:p14="http://schemas.microsoft.com/office/powerpoint/2010/main" val="583112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7D25141-0837-497F-8151-3029BFE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93933B-79E9-49AB-8B54-3B7C8E51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28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最终蓝图不是答案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是可验证的生活版本</a:t>
            </a:r>
          </a:p>
        </p:txBody>
      </p:sp>
      <p:sp>
        <p:nvSpPr>
          <p:cNvPr id="3" name="claim">
            <a:extLst xmlns:a="http://schemas.openxmlformats.org/drawingml/2006/main">
              <a:ext uri="{FF2B5EF4-FFF2-40B4-BE49-F238E27FC236}">
                <a16:creationId xmlns:a16="http://schemas.microsoft.com/office/drawing/2014/main" id="{63651525-334C-4DB2-9784-203A3AA2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它把聊天内容整理成选择空间, 再落到一次原型实验。</a:t>
            </a:r>
          </a:p>
        </p:txBody>
      </p:sp>
      <p:sp>
        <p:nvSpPr>
          <p:cNvPr id="4" name="blueprint-指南针">
            <a:extLst xmlns:a="http://schemas.openxmlformats.org/drawingml/2006/main">
              <a:ext uri="{FF2B5EF4-FFF2-40B4-BE49-F238E27FC236}">
                <a16:creationId xmlns:a16="http://schemas.microsoft.com/office/drawing/2014/main" id="{FA5D8882-A08E-476B-9D16-269C63E9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81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90500" rIns="171450" bIns="152400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指南针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工作观 / 人生观</a:t>
            </a:r>
          </a:p>
        </p:txBody>
      </p:sp>
      <p:sp>
        <p:nvSpPr>
          <p:cNvPr id="5" name="blueprint-能量地图">
            <a:extLst xmlns:a="http://schemas.openxmlformats.org/drawingml/2006/main">
              <a:ext uri="{FF2B5EF4-FFF2-40B4-BE49-F238E27FC236}">
                <a16:creationId xmlns:a16="http://schemas.microsoft.com/office/drawing/2014/main" id="{685F7262-666C-4483-93C9-810E3471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2038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90500" rIns="171450" bIns="152400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能量地图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心流和消耗</a:t>
            </a:r>
          </a:p>
        </p:txBody>
      </p:sp>
      <p:sp>
        <p:nvSpPr>
          <p:cNvPr id="6" name="blueprint-三个五年版本">
            <a:extLst xmlns:a="http://schemas.openxmlformats.org/drawingml/2006/main">
              <a:ext uri="{FF2B5EF4-FFF2-40B4-BE49-F238E27FC236}">
                <a16:creationId xmlns:a16="http://schemas.microsoft.com/office/drawing/2014/main" id="{B1988540-4D31-4376-8724-839EB6AA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571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90500" rIns="171450" bIns="152400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三个五年版本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每个都是 A 计划</a:t>
            </a:r>
          </a:p>
        </p:txBody>
      </p:sp>
      <p:sp>
        <p:nvSpPr>
          <p:cNvPr id="7" name="blueprint-反愿景">
            <a:extLst xmlns:a="http://schemas.openxmlformats.org/drawingml/2006/main">
              <a:ext uri="{FF2B5EF4-FFF2-40B4-BE49-F238E27FC236}">
                <a16:creationId xmlns:a16="http://schemas.microsoft.com/office/drawing/2014/main" id="{B446E82D-98F1-461A-B19A-6129A9CC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38600"/>
            <a:ext cx="1619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A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90500" rIns="171450" bIns="152400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反愿景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谨慎使用</a:t>
            </a:r>
          </a:p>
        </p:txBody>
      </p:sp>
      <p:sp>
        <p:nvSpPr>
          <p:cNvPr id="8" name="blueprint-原型行动">
            <a:extLst xmlns:a="http://schemas.openxmlformats.org/drawingml/2006/main">
              <a:ext uri="{FF2B5EF4-FFF2-40B4-BE49-F238E27FC236}">
                <a16:creationId xmlns:a16="http://schemas.microsoft.com/office/drawing/2014/main" id="{0C8180CF-EDD8-4C54-8207-16F4F2D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20955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90500" rIns="171450" bIns="152400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原型行动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实验或对谈</a:t>
            </a:r>
          </a:p>
        </p:txBody>
      </p:sp>
      <p:sp>
        <p:nvSpPr>
          <p:cNvPr id="9" name="green-orbit">
            <a:extLst xmlns:a="http://schemas.openxmlformats.org/drawingml/2006/main">
              <a:ext uri="{FF2B5EF4-FFF2-40B4-BE49-F238E27FC236}">
                <a16:creationId xmlns:a16="http://schemas.microsoft.com/office/drawing/2014/main" id="{177DA086-968F-4A2F-9307-A282701E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76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F2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ailure">
            <a:extLst xmlns:a="http://schemas.openxmlformats.org/drawingml/2006/main">
              <a:ext uri="{FF2B5EF4-FFF2-40B4-BE49-F238E27FC236}">
                <a16:creationId xmlns:a16="http://schemas.microsoft.com/office/drawing/2014/main" id="{AE4ECF83-7942-43F0-BD84-3CEAF738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FAILURE IMMUNITY</a:t>
            </a:r>
          </a:p>
        </p:txBody>
      </p:sp>
      <p:sp>
        <p:nvSpPr>
          <p:cNvPr id="11" name="failure-cn">
            <a:extLst xmlns:a="http://schemas.openxmlformats.org/drawingml/2006/main">
              <a:ext uri="{FF2B5EF4-FFF2-40B4-BE49-F238E27FC236}">
                <a16:creationId xmlns:a16="http://schemas.microsoft.com/office/drawing/2014/main" id="{57137A68-28B6-41BC-B255-BB18651A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53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走不通的原型, 也会给下一步留下信息。</a:t>
            </a:r>
          </a:p>
        </p:txBody>
      </p:sp>
      <p:sp>
        <p:nvSpPr>
          <p:cNvPr id="12" name="footer-5">
            <a:extLst xmlns:a="http://schemas.openxmlformats.org/drawingml/2006/main">
              <a:ext uri="{FF2B5EF4-FFF2-40B4-BE49-F238E27FC236}">
                <a16:creationId xmlns:a16="http://schemas.microsoft.com/office/drawing/2014/main" id="{AFFB656E-A5B9-4A7A-A136-145E38E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 / X POST PDF    05</a:t>
            </a:r>
          </a:p>
        </p:txBody>
      </p:sp>
    </p:spTree>
    <p:extLst>
      <p:ext uri="{BB962C8B-B14F-4D97-AF65-F5344CB8AC3E}">
        <p14:creationId xmlns:p14="http://schemas.microsoft.com/office/powerpoint/2010/main" val="844683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D4B7F77-31BF-4384-85DB-0FE27315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E8E8E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09932B-93FE-415C-AC02-4289AE7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620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认真回答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再做一个小原型</a:t>
            </a:r>
          </a:p>
        </p:txBody>
      </p:sp>
      <p:sp>
        <p:nvSpPr>
          <p:cNvPr id="3" name="claim">
            <a:extLst xmlns:a="http://schemas.openxmlformats.org/drawingml/2006/main">
              <a:ext uri="{FF2B5EF4-FFF2-40B4-BE49-F238E27FC236}">
                <a16:creationId xmlns:a16="http://schemas.microsoft.com/office/drawing/2014/main" id="{0104F1AF-3FDE-45DF-A80D-B061D9C2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6D6D6"/>
                </a:solidFill>
                <a:latin typeface="PingFang SC"/>
                <a:ea typeface="PingFang SC"/>
                <a:cs typeface="PingFang SC"/>
              </a:rPr>
              <a:t>AI 只递出指南针, 路仍然要靠真实回答和小行动走出来。</a:t>
            </a:r>
          </a:p>
        </p:txBody>
      </p:sp>
      <p:sp>
        <p:nvSpPr>
          <p:cNvPr id="4" name="action-01">
            <a:extLst xmlns:a="http://schemas.openxmlformats.org/drawingml/2006/main">
              <a:ext uri="{FF2B5EF4-FFF2-40B4-BE49-F238E27FC236}">
                <a16:creationId xmlns:a16="http://schemas.microsoft.com/office/drawing/2014/main" id="{D35B8B5B-8B94-4EE3-B901-FA016B71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847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209550" rIns="1714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说真话</a:t>
            </a:r>
          </a:p>
        </p:txBody>
      </p:sp>
      <p:sp>
        <p:nvSpPr>
          <p:cNvPr id="5" name="action-02">
            <a:extLst xmlns:a="http://schemas.openxmlformats.org/drawingml/2006/main">
              <a:ext uri="{FF2B5EF4-FFF2-40B4-BE49-F238E27FC236}">
                <a16:creationId xmlns:a16="http://schemas.microsoft.com/office/drawing/2014/main" id="{F455F793-23B8-4B87-AC2E-90F76B28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209550" rIns="1714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允许追问</a:t>
            </a:r>
          </a:p>
        </p:txBody>
      </p:sp>
      <p:sp>
        <p:nvSpPr>
          <p:cNvPr id="6" name="action-03">
            <a:extLst xmlns:a="http://schemas.openxmlformats.org/drawingml/2006/main">
              <a:ext uri="{FF2B5EF4-FFF2-40B4-BE49-F238E27FC236}">
                <a16:creationId xmlns:a16="http://schemas.microsoft.com/office/drawing/2014/main" id="{C4D5D3D6-4CE1-4F88-85F7-CD28A5C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847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209550" rIns="1714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多个版本</a:t>
            </a:r>
          </a:p>
        </p:txBody>
      </p:sp>
      <p:sp>
        <p:nvSpPr>
          <p:cNvPr id="7" name="action-04">
            <a:extLst xmlns:a="http://schemas.openxmlformats.org/drawingml/2006/main">
              <a:ext uri="{FF2B5EF4-FFF2-40B4-BE49-F238E27FC236}">
                <a16:creationId xmlns:a16="http://schemas.microsoft.com/office/drawing/2014/main" id="{C9C2A85B-F310-42D4-BC39-0844F913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209550" rIns="1714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低成本试</a:t>
            </a:r>
          </a:p>
        </p:txBody>
      </p:sp>
      <p:sp>
        <p:nvSpPr>
          <p:cNvPr id="8" name="action-05">
            <a:extLst xmlns:a="http://schemas.openxmlformats.org/drawingml/2006/main">
              <a:ext uri="{FF2B5EF4-FFF2-40B4-BE49-F238E27FC236}">
                <a16:creationId xmlns:a16="http://schemas.microsoft.com/office/drawing/2014/main" id="{6DE4BBD6-2272-476C-86AD-CF7CDD4B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1847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F2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209550" rIns="17145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9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05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950" b="1">
                <a:solidFill>
                  <a:srgbClr val="03030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30303"/>
                </a:solidFill>
                <a:latin typeface="PingFang SC"/>
                <a:ea typeface="PingFang SC"/>
                <a:cs typeface="PingFang SC"/>
              </a:rPr>
              <a:t>失败是信息</a:t>
            </a:r>
          </a:p>
        </p:txBody>
      </p:sp>
      <p:sp>
        <p:nvSpPr>
          <p:cNvPr id="9" name="right-blue">
            <a:extLst xmlns:a="http://schemas.openxmlformats.org/drawingml/2006/main">
              <a:ext uri="{FF2B5EF4-FFF2-40B4-BE49-F238E27FC236}">
                <a16:creationId xmlns:a16="http://schemas.microsoft.com/office/drawing/2014/main" id="{0A002B0F-0602-493F-8372-EDCD655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429000"/>
            <a:ext cx="12001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ttom-gray">
            <a:extLst xmlns:a="http://schemas.openxmlformats.org/drawingml/2006/main">
              <a:ext uri="{FF2B5EF4-FFF2-40B4-BE49-F238E27FC236}">
                <a16:creationId xmlns:a16="http://schemas.microsoft.com/office/drawing/2014/main" id="{6FD83F7B-D814-4321-B1DE-96FA0C60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704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rker-AI">
            <a:extLst xmlns:a="http://schemas.openxmlformats.org/drawingml/2006/main">
              <a:ext uri="{FF2B5EF4-FFF2-40B4-BE49-F238E27FC236}">
                <a16:creationId xmlns:a16="http://schemas.microsoft.com/office/drawing/2014/main" id="{DB8EAB5B-EF83-4F51-AEF5-88F1825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0668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E7FF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FF62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2" name="endline">
            <a:extLst xmlns:a="http://schemas.openxmlformats.org/drawingml/2006/main">
              <a:ext uri="{FF2B5EF4-FFF2-40B4-BE49-F238E27FC236}">
                <a16:creationId xmlns:a16="http://schemas.microsoft.com/office/drawing/2014/main" id="{3BD92849-3C09-4EE0-A665-C02067C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问题问清楚, 下一步才会变轻。</a:t>
            </a:r>
          </a:p>
        </p:txBody>
      </p:sp>
      <p:sp>
        <p:nvSpPr>
          <p:cNvPr id="13" name="footer-6">
            <a:extLst xmlns:a="http://schemas.openxmlformats.org/drawingml/2006/main">
              <a:ext uri="{FF2B5EF4-FFF2-40B4-BE49-F238E27FC236}">
                <a16:creationId xmlns:a16="http://schemas.microsoft.com/office/drawing/2014/main" id="{FE05C56B-6461-4EB0-8F9D-9FBB974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SOURCE / X POST PDF    06</a:t>
            </a:r>
          </a:p>
        </p:txBody>
      </p:sp>
    </p:spTree>
    <p:extLst>
      <p:ext uri="{BB962C8B-B14F-4D97-AF65-F5344CB8AC3E}">
        <p14:creationId xmlns:p14="http://schemas.microsoft.com/office/powerpoint/2010/main" val="579304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2026-07-09T03:38:25.0450000Z</dcterms:created>
  <dcterms:modified xsi:type="dcterms:W3CDTF">2026-07-09T03:38:25.0450000Z</dcterms:modified>
</coreProperties>
</file>