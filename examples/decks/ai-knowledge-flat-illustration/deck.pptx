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68c10098f45de" /><Relationship Type="http://schemas.openxmlformats.org/officeDocument/2006/relationships/extended-properties" Target="/docProps/app.xml" Id="Rea38ab9f73a74a66" /><Relationship Type="http://schemas.openxmlformats.org/officeDocument/2006/relationships/officeDocument" Target="/ppt/presentation.xml" Id="R902d58a026a048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7e5311c69483c"/>
  </p:sldMasterIdLst>
  <p:notesMasterIdLst>
    <p:notesMasterId xmlns:r="http://schemas.openxmlformats.org/officeDocument/2006/relationships" r:id="R8a374c0076c740e7"/>
  </p:notesMasterIdLst>
  <p:sldIdLst>
    <p:sldId xmlns:r="http://schemas.openxmlformats.org/officeDocument/2006/relationships" id="256" r:id="R1a45211e174146e3"/>
    <p:sldId xmlns:r="http://schemas.openxmlformats.org/officeDocument/2006/relationships" id="257" r:id="R64758a81d17944c3"/>
    <p:sldId xmlns:r="http://schemas.openxmlformats.org/officeDocument/2006/relationships" id="258" r:id="Ra8060ba132b24447"/>
    <p:sldId xmlns:r="http://schemas.openxmlformats.org/officeDocument/2006/relationships" id="259" r:id="Rc6079fd20cd1494c"/>
    <p:sldId xmlns:r="http://schemas.openxmlformats.org/officeDocument/2006/relationships" id="260" r:id="R7100c210a43845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fef32faa14bf0" /><Relationship Type="http://schemas.openxmlformats.org/officeDocument/2006/relationships/slideMaster" Target="/ppt/slideMasters/slideMaster1.xml" Id="R08f7e5311c69483c" /><Relationship Type="http://schemas.openxmlformats.org/officeDocument/2006/relationships/notesMaster" Target="/ppt/notesMasters/notesMaster1.xml" Id="R8a374c0076c740e7" /><Relationship Type="http://schemas.openxmlformats.org/officeDocument/2006/relationships/presProps" Target="/ppt/presProps.xml" Id="Rc1abca12638b4d4b" /><Relationship Type="http://schemas.openxmlformats.org/officeDocument/2006/relationships/tableStyles" Target="/ppt/tableStyles.xml" Id="Re69574464fa4466c" /><Relationship Type="http://schemas.openxmlformats.org/officeDocument/2006/relationships/slide" Target="/ppt/slides/slide1.xml" Id="R1a45211e174146e3" /><Relationship Type="http://schemas.openxmlformats.org/officeDocument/2006/relationships/slide" Target="/ppt/slides/slide2.xml" Id="R64758a81d17944c3" /><Relationship Type="http://schemas.openxmlformats.org/officeDocument/2006/relationships/slide" Target="/ppt/slides/slide3.xml" Id="Ra8060ba132b24447" /><Relationship Type="http://schemas.openxmlformats.org/officeDocument/2006/relationships/slide" Target="/ppt/slides/slide4.xml" Id="Rc6079fd20cd1494c" /><Relationship Type="http://schemas.openxmlformats.org/officeDocument/2006/relationships/slide" Target="/ppt/slides/slide5.xml" Id="R7100c210a438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cf42169832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d354841a84430" /><Relationship Type="http://schemas.openxmlformats.org/officeDocument/2006/relationships/notesMaster" Target="/ppt/notesMasters/notesMaster1.xml" Id="R66bce46c89e9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46ad8311b401e" /><Relationship Type="http://schemas.openxmlformats.org/officeDocument/2006/relationships/notesMaster" Target="/ppt/notesMasters/notesMaster1.xml" Id="R869ee15090e0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fc77dde9a4e87" /><Relationship Type="http://schemas.openxmlformats.org/officeDocument/2006/relationships/notesMaster" Target="/ppt/notesMasters/notesMaster1.xml" Id="Re03757f7c039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2f5ea19ed749db" /><Relationship Type="http://schemas.openxmlformats.org/officeDocument/2006/relationships/notesMaster" Target="/ppt/notesMasters/notesMaster1.xml" Id="R0a2810c93b434d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205f62d93d4e3d" /><Relationship Type="http://schemas.openxmlformats.org/officeDocument/2006/relationships/notesMaster" Target="/ppt/notesMasters/notesMaster1.xml" Id="R4056f0f00b21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这一版先用风格变化抓住注意力，但核心观点不变：知识库不是先买系统，而是先让 AI 读懂你的业务。</a:t>
            </a:r>
          </a:p>
          <a:p xmlns:a="http://schemas.openxmlformats.org/drawingml/2006/main">
            <a:r>
              <a:t>讲的时候可以从常见场景切入：资料到用时找不到，新人重复问，销售经验传不下去。</a:t>
            </a:r>
          </a:p>
          <a:p xmlns:a="http://schemas.openxmlformats.org/drawingml/2006/main">
            <a:r>
              <a:t>然后把四个关键词抛出来：最小目录、安全任务、输出规则、持续反馈。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这一页用一句话制造冲突：通用 AI 可以说得对，但不一定能直接用。</a:t>
            </a:r>
          </a:p>
          <a:p xmlns:a="http://schemas.openxmlformats.org/drawingml/2006/main">
            <a:r>
              <a:t>文章里的判断是：AI 输出质量不只取决于模型能力，还取决于上下文质量和任务约束。</a:t>
            </a:r>
          </a:p>
          <a:p xmlns:a="http://schemas.openxmlformats.org/drawingml/2006/main">
            <a:r>
              <a:t>所以第一版知识库要先补上业务背景，而不是直接追求复杂系统。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这一页把路线排成成熟度路径：直接投喂、目录化、索引地图、RAG 检索和系统集成。</a:t>
            </a:r>
          </a:p>
          <a:p xmlns:a="http://schemas.openxmlformats.org/drawingml/2006/main">
            <a:r>
              <a:t>重点是第二步：目录化。它不是最高级，但最容易启动，也最适合普通人和中小企业做第一版。</a:t>
            </a:r>
          </a:p>
          <a:p xmlns:a="http://schemas.openxmlformats.org/drawingml/2006/main">
            <a:r>
              <a:t>结论是不要把第一步做成技术项目，先把资料区和业务规则跑起来。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这一页把最小目录和使用闭环放在一起。</a:t>
            </a:r>
          </a:p>
          <a:p xmlns:a="http://schemas.openxmlformats.org/drawingml/2006/main">
            <a:r>
              <a:t>左侧是资料区：企业基础、产品服务、客户问题、案例资料和输出规则。</a:t>
            </a:r>
          </a:p>
          <a:p xmlns:a="http://schemas.openxmlformats.org/drawingml/2006/main">
            <a:r>
              <a:t>右侧是使用闭环：资料进入、AI 试用、人来判断、规则回写。知识库不是一次整理，而是持续校准。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最后一页给行动建议。工具只是入口，真正让知识库变准的是持续反馈。</a:t>
            </a:r>
          </a:p>
          <a:p xmlns:a="http://schemas.openxmlformats.org/drawingml/2006/main">
            <a:r>
              <a:t>选择工具时重点看三件事：能否接入资料区，能否引用来源，能否把校准写回规则。</a:t>
            </a:r>
          </a:p>
          <a:p xmlns:a="http://schemas.openxmlformats.org/drawingml/2006/main">
            <a:r>
              <a:t>收尾句强调：下一次类似问题，AI 不再重新猜，而是接着你的资料和规则往下做。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3d83cc77549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4b79389b54909" /><Relationship Type="http://schemas.openxmlformats.org/officeDocument/2006/relationships/slideLayout" Target="/ppt/slideLayouts/slideLayout1.xml" Id="R471e34bcd257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e34bcd25748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2c7779f24153" /><Relationship Type="http://schemas.openxmlformats.org/officeDocument/2006/relationships/image" Target="/ppt/media/image.png" Id="R2f5cc3a6033d413e" /><Relationship Type="http://schemas.openxmlformats.org/officeDocument/2006/relationships/notesSlide" Target="/ppt/notesSlides/notesSlide1.xml" Id="Rcde7da88dead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9162d212b4a8c" /><Relationship Type="http://schemas.openxmlformats.org/officeDocument/2006/relationships/image" Target="/ppt/media/image2.png" Id="R78f1a7c941d8458a" /><Relationship Type="http://schemas.openxmlformats.org/officeDocument/2006/relationships/notesSlide" Target="/ppt/notesSlides/notesSlide2.xml" Id="R57e654baa98e48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f0351c2df4c26" /><Relationship Type="http://schemas.openxmlformats.org/officeDocument/2006/relationships/image" Target="/ppt/media/image3.png" Id="R1ba311c6b03b40cf" /><Relationship Type="http://schemas.openxmlformats.org/officeDocument/2006/relationships/notesSlide" Target="/ppt/notesSlides/notesSlide3.xml" Id="Rfd56d8ab31904d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945677b1d42ea" /><Relationship Type="http://schemas.openxmlformats.org/officeDocument/2006/relationships/image" Target="/ppt/media/image4.png" Id="R0635e5d5487e4e38" /><Relationship Type="http://schemas.openxmlformats.org/officeDocument/2006/relationships/notesSlide" Target="/ppt/notesSlides/notesSlide4.xml" Id="Ra0a32172ab2a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6913e206c429a" /><Relationship Type="http://schemas.openxmlformats.org/officeDocument/2006/relationships/image" Target="/ppt/media/image5.png" Id="Rf625f15e36d24c8a" /><Relationship Type="http://schemas.openxmlformats.org/officeDocument/2006/relationships/notesSlide" Target="/ppt/notesSlides/notesSlide5.xml" Id="R03bf329c17cd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1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cc3a6033d41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badge-shape-shadow">
            <a:extLst xmlns:a="http://schemas.openxmlformats.org/drawingml/2006/main">
              <a:ext uri="{FF2B5EF4-FFF2-40B4-BE49-F238E27FC236}">
                <a16:creationId xmlns:a16="http://schemas.microsoft.com/office/drawing/2014/main" id="{98BA4685-5142-4138-8C0D-1268EDC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2743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adge-shape">
            <a:extLst xmlns:a="http://schemas.openxmlformats.org/drawingml/2006/main">
              <a:ext uri="{FF2B5EF4-FFF2-40B4-BE49-F238E27FC236}">
                <a16:creationId xmlns:a16="http://schemas.microsoft.com/office/drawing/2014/main" id="{59D39AB5-4675-4E11-8184-A712CC2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743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4" name="cover-badge-text">
            <a:extLst xmlns:a="http://schemas.openxmlformats.org/drawingml/2006/main">
              <a:ext uri="{FF2B5EF4-FFF2-40B4-BE49-F238E27FC236}">
                <a16:creationId xmlns:a16="http://schemas.microsoft.com/office/drawing/2014/main" id="{FA169E3A-2132-4603-8399-7566C5A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V3 / 动漫扁平插画风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3B8E35-4015-4F47-8A71-693DD85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286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11827"/>
                </a:solidFill>
              </a:defRPr>
            </a:pPr>
            <a:r>
              <a:rPr sz="4575" b="1">
                <a:solidFill>
                  <a:srgbClr val="111827"/>
                </a:solidFill>
              </a:rPr>
              <a:t>别先买系统</a:t>
            </a:r>
          </a:p>
          <a:p xmlns:a="http://schemas.openxmlformats.org/drawingml/2006/main">
            <a:pPr algn="l">
              <a:defRPr sz="4575" b="1">
                <a:solidFill>
                  <a:srgbClr val="111827"/>
                </a:solidFill>
              </a:defRPr>
            </a:pPr>
            <a:r>
              <a:rPr sz="4575" b="1">
                <a:solidFill>
                  <a:srgbClr val="111827"/>
                </a:solidFill>
              </a:rPr>
              <a:t>先让 AI 读懂你</a:t>
            </a:r>
          </a:p>
        </p:txBody>
      </p:sp>
      <p:sp>
        <p:nvSpPr>
          <p:cNvPr id="6" name="cover-subtitle-bg-shadow">
            <a:extLst xmlns:a="http://schemas.openxmlformats.org/drawingml/2006/main">
              <a:ext uri="{FF2B5EF4-FFF2-40B4-BE49-F238E27FC236}">
                <a16:creationId xmlns:a16="http://schemas.microsoft.com/office/drawing/2014/main" id="{F0012D94-2285-403C-9B8D-74AF272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5143500" cy="1009650"/>
          </a:xfrm>
          <a:prstGeom xmlns:a="http://schemas.openxmlformats.org/drawingml/2006/main" prst="roundRect">
            <a:avLst>
              <a:gd name="adj" fmla="val 2641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subtitle-bg">
            <a:extLst xmlns:a="http://schemas.openxmlformats.org/drawingml/2006/main">
              <a:ext uri="{FF2B5EF4-FFF2-40B4-BE49-F238E27FC236}">
                <a16:creationId xmlns:a16="http://schemas.microsoft.com/office/drawing/2014/main" id="{0A06EE6B-44C0-459A-BA02-F79F8F97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5143500" cy="1009650"/>
          </a:xfrm>
          <a:prstGeom xmlns:a="http://schemas.openxmlformats.org/drawingml/2006/main" prst="roundRect">
            <a:avLst>
              <a:gd name="adj" fmla="val 26415"/>
            </a:avLst>
          </a:prstGeom>
          <a:solidFill xmlns:a="http://schemas.openxmlformats.org/drawingml/2006/main">
            <a:srgbClr val="FFF9E6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B9BDD5-F78E-4249-AD0E-A82887FD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第一版知识库的价值不是“更高级”，而是让 AI 基于你的产品、客户、案例和规则回答问题。</a:t>
            </a:r>
          </a:p>
        </p:txBody>
      </p:sp>
      <p:sp>
        <p:nvSpPr>
          <p:cNvPr id="9" name="cover-key-0-shape-shadow">
            <a:extLst xmlns:a="http://schemas.openxmlformats.org/drawingml/2006/main">
              <a:ext uri="{FF2B5EF4-FFF2-40B4-BE49-F238E27FC236}">
                <a16:creationId xmlns:a16="http://schemas.microsoft.com/office/drawing/2014/main" id="{C967A947-05E0-4519-B716-F5AA491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key-0-shape">
            <a:extLst xmlns:a="http://schemas.openxmlformats.org/drawingml/2006/main">
              <a:ext uri="{FF2B5EF4-FFF2-40B4-BE49-F238E27FC236}">
                <a16:creationId xmlns:a16="http://schemas.microsoft.com/office/drawing/2014/main" id="{E653E647-155D-417A-9AF3-AC862E8A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1" name="cover-key-0-text">
            <a:extLst xmlns:a="http://schemas.openxmlformats.org/drawingml/2006/main">
              <a:ext uri="{FF2B5EF4-FFF2-40B4-BE49-F238E27FC236}">
                <a16:creationId xmlns:a16="http://schemas.microsoft.com/office/drawing/2014/main" id="{7059694E-21DE-4D39-9CD4-DB895FC0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01  最小目录</a:t>
            </a:r>
          </a:p>
        </p:txBody>
      </p:sp>
      <p:sp>
        <p:nvSpPr>
          <p:cNvPr id="12" name="cover-key-1-shape-shadow">
            <a:extLst xmlns:a="http://schemas.openxmlformats.org/drawingml/2006/main">
              <a:ext uri="{FF2B5EF4-FFF2-40B4-BE49-F238E27FC236}">
                <a16:creationId xmlns:a16="http://schemas.microsoft.com/office/drawing/2014/main" id="{710F48A2-47F2-443A-BB64-ACEDAAB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24475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key-1-shape">
            <a:extLst xmlns:a="http://schemas.openxmlformats.org/drawingml/2006/main">
              <a:ext uri="{FF2B5EF4-FFF2-40B4-BE49-F238E27FC236}">
                <a16:creationId xmlns:a16="http://schemas.microsoft.com/office/drawing/2014/main" id="{DE0A62FB-BEB8-4BB6-BF0F-A14F38C4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4" name="cover-key-1-text">
            <a:extLst xmlns:a="http://schemas.openxmlformats.org/drawingml/2006/main">
              <a:ext uri="{FF2B5EF4-FFF2-40B4-BE49-F238E27FC236}">
                <a16:creationId xmlns:a16="http://schemas.microsoft.com/office/drawing/2014/main" id="{1843B903-D4D8-4F5D-956C-7098B34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625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02  安全任务</a:t>
            </a:r>
          </a:p>
        </p:txBody>
      </p:sp>
      <p:sp>
        <p:nvSpPr>
          <p:cNvPr id="15" name="cover-key-2-shape-shadow">
            <a:extLst xmlns:a="http://schemas.openxmlformats.org/drawingml/2006/main">
              <a:ext uri="{FF2B5EF4-FFF2-40B4-BE49-F238E27FC236}">
                <a16:creationId xmlns:a16="http://schemas.microsoft.com/office/drawing/2014/main" id="{726A8731-3F1E-495B-B08C-E3586273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24475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key-2-shape">
            <a:extLst xmlns:a="http://schemas.openxmlformats.org/drawingml/2006/main">
              <a:ext uri="{FF2B5EF4-FFF2-40B4-BE49-F238E27FC236}">
                <a16:creationId xmlns:a16="http://schemas.microsoft.com/office/drawing/2014/main" id="{4983C1D8-BC0C-4FA4-A68F-FF3B393E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57800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7" name="cover-key-2-text">
            <a:extLst xmlns:a="http://schemas.openxmlformats.org/drawingml/2006/main">
              <a:ext uri="{FF2B5EF4-FFF2-40B4-BE49-F238E27FC236}">
                <a16:creationId xmlns:a16="http://schemas.microsoft.com/office/drawing/2014/main" id="{96EA6DFF-CDF8-49DD-B8C9-A7205165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625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03  输出规则</a:t>
            </a:r>
          </a:p>
        </p:txBody>
      </p:sp>
      <p:sp>
        <p:nvSpPr>
          <p:cNvPr id="18" name="cover-key-3-shape-shadow">
            <a:extLst xmlns:a="http://schemas.openxmlformats.org/drawingml/2006/main">
              <a:ext uri="{FF2B5EF4-FFF2-40B4-BE49-F238E27FC236}">
                <a16:creationId xmlns:a16="http://schemas.microsoft.com/office/drawing/2014/main" id="{11C1238E-6980-4994-B664-11127240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24475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key-3-shape">
            <a:extLst xmlns:a="http://schemas.openxmlformats.org/drawingml/2006/main">
              <a:ext uri="{FF2B5EF4-FFF2-40B4-BE49-F238E27FC236}">
                <a16:creationId xmlns:a16="http://schemas.microsoft.com/office/drawing/2014/main" id="{85A10EB7-7AAF-47BB-8A1E-4C9486E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57800"/>
            <a:ext cx="2143125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E1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0" name="cover-key-3-text">
            <a:extLst xmlns:a="http://schemas.openxmlformats.org/drawingml/2006/main">
              <a:ext uri="{FF2B5EF4-FFF2-40B4-BE49-F238E27FC236}">
                <a16:creationId xmlns:a16="http://schemas.microsoft.com/office/drawing/2014/main" id="{517C12B0-D437-4428-9693-07180CA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625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04  持续反馈</a:t>
            </a:r>
          </a:p>
        </p:txBody>
      </p:sp>
      <p:sp>
        <p:nvSpPr>
          <p:cNvPr id="21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8842ED7F-6377-4F8A-A192-D2EBE52C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Source: @jinchenma_ai / X article PDF</a:t>
            </a:r>
          </a:p>
        </p:txBody>
      </p:sp>
      <p:sp>
        <p:nvSpPr>
          <p:cNvPr id="2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B5C68B0B-ECDB-4493-87D2-9A6A39F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6406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1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-shape-shadow">
            <a:extLst xmlns:a="http://schemas.openxmlformats.org/drawingml/2006/main">
              <a:ext uri="{FF2B5EF4-FFF2-40B4-BE49-F238E27FC236}">
                <a16:creationId xmlns:a16="http://schemas.microsoft.com/office/drawing/2014/main" id="{D0CCA745-18E3-44CB-965E-94F2431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7675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-shape">
            <a:extLst xmlns:a="http://schemas.openxmlformats.org/drawingml/2006/main">
              <a:ext uri="{FF2B5EF4-FFF2-40B4-BE49-F238E27FC236}">
                <a16:creationId xmlns:a16="http://schemas.microsoft.com/office/drawing/2014/main" id="{0D7DF465-CF58-430E-AD25-6289B9EF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3" name="section-label-text">
            <a:extLst xmlns:a="http://schemas.openxmlformats.org/drawingml/2006/main">
              <a:ext uri="{FF2B5EF4-FFF2-40B4-BE49-F238E27FC236}">
                <a16:creationId xmlns:a16="http://schemas.microsoft.com/office/drawing/2014/main" id="{76433592-D7FD-48C3-AFCB-4E12756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为什么通用 AI 不够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5EF375-8532-48B1-A2B7-905ADC8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通用 AI 正确，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但不一定能用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30015989-E59A-4160-93AB-7095A23A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因为它缺的不是常识，而是你公司的上下文。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1a7c941d8458a"/>
          <a:srcRect xmlns:a="http://schemas.openxmlformats.org/drawingml/2006/main" l="94" t="0" r="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666750"/>
            <a:ext cx="6115050" cy="3448050"/>
          </a:xfrm>
          <a:prstGeom xmlns:a="http://schemas.openxmlformats.org/drawingml/2006/main" prst="roundRect">
            <a:avLst>
              <a:gd name="adj" fmla="val 8840"/>
            </a:avLst>
          </a:prstGeom>
        </p:spPr>
      </p:pic>
      <p:sp>
        <p:nvSpPr>
          <p:cNvPr id="7" name="quote-panel-shadow">
            <a:extLst xmlns:a="http://schemas.openxmlformats.org/drawingml/2006/main">
              <a:ext uri="{FF2B5EF4-FFF2-40B4-BE49-F238E27FC236}">
                <a16:creationId xmlns:a16="http://schemas.microsoft.com/office/drawing/2014/main" id="{B8E31D8C-35FF-4950-8A16-AB30EB8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4343400" cy="118110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ote-panel">
            <a:extLst xmlns:a="http://schemas.openxmlformats.org/drawingml/2006/main">
              <a:ext uri="{FF2B5EF4-FFF2-40B4-BE49-F238E27FC236}">
                <a16:creationId xmlns:a16="http://schemas.microsoft.com/office/drawing/2014/main" id="{8452C646-CB2C-4071-901F-F7150F4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343400" cy="118110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9" name="quote">
            <a:extLst xmlns:a="http://schemas.openxmlformats.org/drawingml/2006/main">
              <a:ext uri="{FF2B5EF4-FFF2-40B4-BE49-F238E27FC236}">
                <a16:creationId xmlns:a16="http://schemas.microsoft.com/office/drawing/2014/main" id="{A38004A9-8644-443B-8A0A-3C4594D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3733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“它说的是对的，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但对你的业务没用。”</a:t>
            </a:r>
          </a:p>
        </p:txBody>
      </p:sp>
      <p:sp>
        <p:nvSpPr>
          <p:cNvPr id="10" name="condition-0-shadow">
            <a:extLst xmlns:a="http://schemas.openxmlformats.org/drawingml/2006/main">
              <a:ext uri="{FF2B5EF4-FFF2-40B4-BE49-F238E27FC236}">
                <a16:creationId xmlns:a16="http://schemas.microsoft.com/office/drawing/2014/main" id="{7E49FF61-95FA-4D02-9AC1-8E122613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505325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dition-0">
            <a:extLst xmlns:a="http://schemas.openxmlformats.org/drawingml/2006/main">
              <a:ext uri="{FF2B5EF4-FFF2-40B4-BE49-F238E27FC236}">
                <a16:creationId xmlns:a16="http://schemas.microsoft.com/office/drawing/2014/main" id="{1ED4C6AB-F28A-46CB-828B-BBF3DEF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38650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2" name="condition-num-0">
            <a:extLst xmlns:a="http://schemas.openxmlformats.org/drawingml/2006/main">
              <a:ext uri="{FF2B5EF4-FFF2-40B4-BE49-F238E27FC236}">
                <a16:creationId xmlns:a16="http://schemas.microsoft.com/office/drawing/2014/main" id="{4CCBF802-93D5-46EF-B1F3-F6CFE0EB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9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</a:defRPr>
            </a:pPr>
            <a:r>
              <a:rPr sz="1350" b="1">
                <a:solidFill>
                  <a:srgbClr val="2F6FDB"/>
                </a:solidFill>
              </a:rPr>
              <a:t>01</a:t>
            </a:r>
          </a:p>
        </p:txBody>
      </p:sp>
      <p:sp>
        <p:nvSpPr>
          <p:cNvPr id="13" name="condition-head-0">
            <a:extLst xmlns:a="http://schemas.openxmlformats.org/drawingml/2006/main">
              <a:ext uri="{FF2B5EF4-FFF2-40B4-BE49-F238E27FC236}">
                <a16:creationId xmlns:a16="http://schemas.microsoft.com/office/drawing/2014/main" id="{86CC1976-3E24-4A51-BA74-3CBAA140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815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模型能力</a:t>
            </a:r>
          </a:p>
        </p:txBody>
      </p:sp>
      <p:sp>
        <p:nvSpPr>
          <p:cNvPr id="14" name="condition-body-0">
            <a:extLst xmlns:a="http://schemas.openxmlformats.org/drawingml/2006/main">
              <a:ext uri="{FF2B5EF4-FFF2-40B4-BE49-F238E27FC236}">
                <a16:creationId xmlns:a16="http://schemas.microsoft.com/office/drawing/2014/main" id="{F8B55C7A-6B55-4B05-B683-5FE742B1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推理、总结、表达</a:t>
            </a:r>
          </a:p>
        </p:txBody>
      </p:sp>
      <p:sp>
        <p:nvSpPr>
          <p:cNvPr id="15" name="condition-1-shadow">
            <a:extLst xmlns:a="http://schemas.openxmlformats.org/drawingml/2006/main">
              <a:ext uri="{FF2B5EF4-FFF2-40B4-BE49-F238E27FC236}">
                <a16:creationId xmlns:a16="http://schemas.microsoft.com/office/drawing/2014/main" id="{D32DE1FA-58CB-4BFB-9A7A-DFD88015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505325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dition-1">
            <a:extLst xmlns:a="http://schemas.openxmlformats.org/drawingml/2006/main">
              <a:ext uri="{FF2B5EF4-FFF2-40B4-BE49-F238E27FC236}">
                <a16:creationId xmlns:a16="http://schemas.microsoft.com/office/drawing/2014/main" id="{D53D2D60-A1C7-40ED-99C1-31956479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7" name="condition-num-1">
            <a:extLst xmlns:a="http://schemas.openxmlformats.org/drawingml/2006/main">
              <a:ext uri="{FF2B5EF4-FFF2-40B4-BE49-F238E27FC236}">
                <a16:creationId xmlns:a16="http://schemas.microsoft.com/office/drawing/2014/main" id="{0A2DD94E-75BD-4D9E-907C-C2663DC5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19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</a:defRPr>
            </a:pPr>
            <a:r>
              <a:rPr sz="1350" b="1">
                <a:solidFill>
                  <a:srgbClr val="2F6FDB"/>
                </a:solidFill>
              </a:rPr>
              <a:t>02</a:t>
            </a:r>
          </a:p>
        </p:txBody>
      </p:sp>
      <p:sp>
        <p:nvSpPr>
          <p:cNvPr id="18" name="condition-head-1">
            <a:extLst xmlns:a="http://schemas.openxmlformats.org/drawingml/2006/main">
              <a:ext uri="{FF2B5EF4-FFF2-40B4-BE49-F238E27FC236}">
                <a16:creationId xmlns:a16="http://schemas.microsoft.com/office/drawing/2014/main" id="{0CB52E1D-CA7C-4629-91CC-84377C0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业务上下文</a:t>
            </a:r>
          </a:p>
        </p:txBody>
      </p:sp>
      <p:sp>
        <p:nvSpPr>
          <p:cNvPr id="19" name="condition-body-1">
            <a:extLst xmlns:a="http://schemas.openxmlformats.org/drawingml/2006/main">
              <a:ext uri="{FF2B5EF4-FFF2-40B4-BE49-F238E27FC236}">
                <a16:creationId xmlns:a16="http://schemas.microsoft.com/office/drawing/2014/main" id="{3CBA433B-69BD-468E-9696-B3BB398C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72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产品、案例、客户</a:t>
            </a:r>
          </a:p>
        </p:txBody>
      </p:sp>
      <p:sp>
        <p:nvSpPr>
          <p:cNvPr id="20" name="condition-2-shadow">
            <a:extLst xmlns:a="http://schemas.openxmlformats.org/drawingml/2006/main">
              <a:ext uri="{FF2B5EF4-FFF2-40B4-BE49-F238E27FC236}">
                <a16:creationId xmlns:a16="http://schemas.microsoft.com/office/drawing/2014/main" id="{43055F85-44B0-4F8E-BD6F-C6B6331F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05325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dition-2">
            <a:extLst xmlns:a="http://schemas.openxmlformats.org/drawingml/2006/main">
              <a:ext uri="{FF2B5EF4-FFF2-40B4-BE49-F238E27FC236}">
                <a16:creationId xmlns:a16="http://schemas.microsoft.com/office/drawing/2014/main" id="{1422C2AD-ACAE-437D-927D-9A159FFD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84785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E1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2" name="condition-num-2">
            <a:extLst xmlns:a="http://schemas.openxmlformats.org/drawingml/2006/main">
              <a:ext uri="{FF2B5EF4-FFF2-40B4-BE49-F238E27FC236}">
                <a16:creationId xmlns:a16="http://schemas.microsoft.com/office/drawing/2014/main" id="{76104CA7-9872-4332-9C09-8F7B83AA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19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</a:defRPr>
            </a:pPr>
            <a:r>
              <a:rPr sz="1350" b="1">
                <a:solidFill>
                  <a:srgbClr val="2F6FDB"/>
                </a:solidFill>
              </a:rPr>
              <a:t>03</a:t>
            </a:r>
          </a:p>
        </p:txBody>
      </p:sp>
      <p:sp>
        <p:nvSpPr>
          <p:cNvPr id="23" name="condition-head-2">
            <a:extLst xmlns:a="http://schemas.openxmlformats.org/drawingml/2006/main">
              <a:ext uri="{FF2B5EF4-FFF2-40B4-BE49-F238E27FC236}">
                <a16:creationId xmlns:a16="http://schemas.microsoft.com/office/drawing/2014/main" id="{DE9DBA42-E0C6-41B8-9F61-C9E7295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815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任务约束</a:t>
            </a:r>
          </a:p>
        </p:txBody>
      </p:sp>
      <p:sp>
        <p:nvSpPr>
          <p:cNvPr id="24" name="condition-body-2">
            <a:extLst xmlns:a="http://schemas.openxmlformats.org/drawingml/2006/main">
              <a:ext uri="{FF2B5EF4-FFF2-40B4-BE49-F238E27FC236}">
                <a16:creationId xmlns:a16="http://schemas.microsoft.com/office/drawing/2014/main" id="{6069BCEC-EEF6-4761-8F99-6E42A778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72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资料、边界、标准</a:t>
            </a:r>
          </a:p>
        </p:txBody>
      </p:sp>
      <p:sp>
        <p:nvSpPr>
          <p:cNvPr id="25" name="takeaway-bg">
            <a:extLst xmlns:a="http://schemas.openxmlformats.org/drawingml/2006/main">
              <a:ext uri="{FF2B5EF4-FFF2-40B4-BE49-F238E27FC236}">
                <a16:creationId xmlns:a16="http://schemas.microsoft.com/office/drawing/2014/main" id="{21561CD7-65D4-4EA7-94C3-D2F131C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3434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14288">
            <a:solidFill>
              <a:srgbClr val="E7DCA7"/>
            </a:solidFill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8BAB9FAA-E56D-4763-89AE-7ED2A1D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先确认：AI 拿到了你的上下文。</a:t>
            </a:r>
          </a:p>
        </p:txBody>
      </p:sp>
      <p:sp>
        <p:nvSpPr>
          <p:cNvPr id="27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11C0C917-D028-4888-9768-F66BF3D5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Source: @jinchenma_ai / X article PDF</a:t>
            </a:r>
          </a:p>
        </p:txBody>
      </p:sp>
      <p:sp>
        <p:nvSpPr>
          <p:cNvPr id="2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AB75C50-B072-4ACD-9F4E-988C69D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5642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311c6b03b40cf"/>
          <a:srcRect xmlns:a="http://schemas.openxmlformats.org/drawingml/2006/main" l="0" t="27259" r="0" b="27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62150"/>
            <a:ext cx="11163300" cy="2857500"/>
          </a:xfrm>
          <a:prstGeom xmlns:a="http://schemas.openxmlformats.org/drawingml/2006/main" prst="roundRect">
            <a:avLst>
              <a:gd name="adj" fmla="val 11333"/>
            </a:avLst>
          </a:prstGeom>
        </p:spPr>
      </p:pic>
      <p:sp>
        <p:nvSpPr>
          <p:cNvPr id="2" name="section-label-shape-shadow">
            <a:extLst xmlns:a="http://schemas.openxmlformats.org/drawingml/2006/main">
              <a:ext uri="{FF2B5EF4-FFF2-40B4-BE49-F238E27FC236}">
                <a16:creationId xmlns:a16="http://schemas.microsoft.com/office/drawing/2014/main" id="{582B00D6-AB81-47E2-92CD-A0C5410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7675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label-shape">
            <a:extLst xmlns:a="http://schemas.openxmlformats.org/drawingml/2006/main">
              <a:ext uri="{FF2B5EF4-FFF2-40B4-BE49-F238E27FC236}">
                <a16:creationId xmlns:a16="http://schemas.microsoft.com/office/drawing/2014/main" id="{4210D234-5673-4165-94C6-969860B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4" name="section-label-text">
            <a:extLst xmlns:a="http://schemas.openxmlformats.org/drawingml/2006/main">
              <a:ext uri="{FF2B5EF4-FFF2-40B4-BE49-F238E27FC236}">
                <a16:creationId xmlns:a16="http://schemas.microsoft.com/office/drawing/2014/main" id="{17A0161A-E164-4B28-9804-58F2DB34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从轻到重选阶段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EB9DBA-2860-48F6-ABA3-EE689A7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别从 RAG 开始，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先选对阶段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59B2E41E-9511-4D3F-886B-1D63CE5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五种路线不是并列选项，而是从轻到重的成熟度路径。</a:t>
            </a:r>
          </a:p>
        </p:txBody>
      </p:sp>
      <p:sp>
        <p:nvSpPr>
          <p:cNvPr id="7" name="stage-0-shadow">
            <a:extLst xmlns:a="http://schemas.openxmlformats.org/drawingml/2006/main">
              <a:ext uri="{FF2B5EF4-FFF2-40B4-BE49-F238E27FC236}">
                <a16:creationId xmlns:a16="http://schemas.microsoft.com/office/drawing/2014/main" id="{FCD94D49-A6DE-43AD-8BFE-39BBCCE2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72075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A56216F3-07AC-4511-A0C2-FEA73B4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9" name="stage-num-0">
            <a:extLst xmlns:a="http://schemas.openxmlformats.org/drawingml/2006/main">
              <a:ext uri="{FF2B5EF4-FFF2-40B4-BE49-F238E27FC236}">
                <a16:creationId xmlns:a16="http://schemas.microsoft.com/office/drawing/2014/main" id="{1FDEC61E-594B-4BAC-81E3-3AC38A2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01</a:t>
            </a:r>
          </a:p>
        </p:txBody>
      </p:sp>
      <p:sp>
        <p:nvSpPr>
          <p:cNvPr id="10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CB4F313E-C639-4B25-BBA7-7695EE77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直接投喂</a:t>
            </a:r>
          </a:p>
        </p:txBody>
      </p:sp>
      <p:sp>
        <p:nvSpPr>
          <p:cNvPr id="11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4B59652E-1807-41D4-9876-6DDE741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7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一次性任务</a:t>
            </a:r>
          </a:p>
        </p:txBody>
      </p:sp>
      <p:sp>
        <p:nvSpPr>
          <p:cNvPr id="12" name="stage-1-shadow">
            <a:extLst xmlns:a="http://schemas.openxmlformats.org/drawingml/2006/main">
              <a:ext uri="{FF2B5EF4-FFF2-40B4-BE49-F238E27FC236}">
                <a16:creationId xmlns:a16="http://schemas.microsoft.com/office/drawing/2014/main" id="{3738F5F7-929F-4E47-9E42-BEF44A28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57775"/>
            <a:ext cx="18669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1">
            <a:extLst xmlns:a="http://schemas.openxmlformats.org/drawingml/2006/main">
              <a:ext uri="{FF2B5EF4-FFF2-40B4-BE49-F238E27FC236}">
                <a16:creationId xmlns:a16="http://schemas.microsoft.com/office/drawing/2014/main" id="{8CF1F7A7-D8A9-42C4-A6A7-8D58B709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91100"/>
            <a:ext cx="18669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4" name="stage-num-1">
            <a:extLst xmlns:a="http://schemas.openxmlformats.org/drawingml/2006/main">
              <a:ext uri="{FF2B5EF4-FFF2-40B4-BE49-F238E27FC236}">
                <a16:creationId xmlns:a16="http://schemas.microsoft.com/office/drawing/2014/main" id="{4AD2815C-EFA7-4D7F-B55F-03CBB85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57"/>
                </a:solidFill>
              </a:defRPr>
            </a:pPr>
            <a:r>
              <a:rPr sz="1650" b="1">
                <a:solidFill>
                  <a:srgbClr val="FF6B57"/>
                </a:solidFill>
              </a:rPr>
              <a:t>02</a:t>
            </a:r>
          </a:p>
        </p:txBody>
      </p:sp>
      <p:sp>
        <p:nvSpPr>
          <p:cNvPr id="15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81913058-A2E1-4EAD-A028-D81F3B43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目录化</a:t>
            </a:r>
          </a:p>
        </p:txBody>
      </p:sp>
      <p:sp>
        <p:nvSpPr>
          <p:cNvPr id="16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0CD27C53-64BE-4EA7-92E5-06EA062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第一版起点</a:t>
            </a:r>
          </a:p>
        </p:txBody>
      </p:sp>
      <p:sp>
        <p:nvSpPr>
          <p:cNvPr id="17" name="stage-2-shadow">
            <a:extLst xmlns:a="http://schemas.openxmlformats.org/drawingml/2006/main">
              <a:ext uri="{FF2B5EF4-FFF2-40B4-BE49-F238E27FC236}">
                <a16:creationId xmlns:a16="http://schemas.microsoft.com/office/drawing/2014/main" id="{12659D23-0FA8-4DB5-A804-2272DFB6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172075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2">
            <a:extLst xmlns:a="http://schemas.openxmlformats.org/drawingml/2006/main">
              <a:ext uri="{FF2B5EF4-FFF2-40B4-BE49-F238E27FC236}">
                <a16:creationId xmlns:a16="http://schemas.microsoft.com/office/drawing/2014/main" id="{7CC2EE41-EFC0-47B4-B1ED-FEB916D3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05400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9" name="stage-num-2">
            <a:extLst xmlns:a="http://schemas.openxmlformats.org/drawingml/2006/main">
              <a:ext uri="{FF2B5EF4-FFF2-40B4-BE49-F238E27FC236}">
                <a16:creationId xmlns:a16="http://schemas.microsoft.com/office/drawing/2014/main" id="{59BD5F1C-82D1-4527-8820-A66EE54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673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03</a:t>
            </a:r>
          </a:p>
        </p:txBody>
      </p:sp>
      <p:sp>
        <p:nvSpPr>
          <p:cNvPr id="20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B1EDC69C-06F2-4029-AF6A-84796C8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387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索引地图</a:t>
            </a:r>
          </a:p>
        </p:txBody>
      </p:sp>
      <p:sp>
        <p:nvSpPr>
          <p:cNvPr id="21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4EA8A064-48D6-48C4-9927-2B5769B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7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跨主题关联</a:t>
            </a:r>
          </a:p>
        </p:txBody>
      </p:sp>
      <p:sp>
        <p:nvSpPr>
          <p:cNvPr id="22" name="stage-3-shadow">
            <a:extLst xmlns:a="http://schemas.openxmlformats.org/drawingml/2006/main">
              <a:ext uri="{FF2B5EF4-FFF2-40B4-BE49-F238E27FC236}">
                <a16:creationId xmlns:a16="http://schemas.microsoft.com/office/drawing/2014/main" id="{BE25FB4D-6512-4ACB-8913-B1D3DBB9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72075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3">
            <a:extLst xmlns:a="http://schemas.openxmlformats.org/drawingml/2006/main">
              <a:ext uri="{FF2B5EF4-FFF2-40B4-BE49-F238E27FC236}">
                <a16:creationId xmlns:a16="http://schemas.microsoft.com/office/drawing/2014/main" id="{CAEF90C4-FF0E-4921-81DA-5055DFC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4" name="stage-num-3">
            <a:extLst xmlns:a="http://schemas.openxmlformats.org/drawingml/2006/main">
              <a:ext uri="{FF2B5EF4-FFF2-40B4-BE49-F238E27FC236}">
                <a16:creationId xmlns:a16="http://schemas.microsoft.com/office/drawing/2014/main" id="{0FCB42CA-FFF6-4391-9877-401A4DDF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673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04</a:t>
            </a:r>
          </a:p>
        </p:txBody>
      </p:sp>
      <p:sp>
        <p:nvSpPr>
          <p:cNvPr id="25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4EF0C32A-F91E-4447-815A-76EA4801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RAG 检索</a:t>
            </a:r>
          </a:p>
        </p:txBody>
      </p:sp>
      <p:sp>
        <p:nvSpPr>
          <p:cNvPr id="26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B00AA6F1-49E4-49D9-B44B-5B556449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7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语义级查找</a:t>
            </a:r>
          </a:p>
        </p:txBody>
      </p:sp>
      <p:sp>
        <p:nvSpPr>
          <p:cNvPr id="27" name="stage-4-shadow">
            <a:extLst xmlns:a="http://schemas.openxmlformats.org/drawingml/2006/main">
              <a:ext uri="{FF2B5EF4-FFF2-40B4-BE49-F238E27FC236}">
                <a16:creationId xmlns:a16="http://schemas.microsoft.com/office/drawing/2014/main" id="{152F720F-3D52-4D51-ACF8-36705F0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72075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ge-4">
            <a:extLst xmlns:a="http://schemas.openxmlformats.org/drawingml/2006/main">
              <a:ext uri="{FF2B5EF4-FFF2-40B4-BE49-F238E27FC236}">
                <a16:creationId xmlns:a16="http://schemas.microsoft.com/office/drawing/2014/main" id="{9480CFE6-8478-428B-BB63-A3D023F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05400"/>
            <a:ext cx="186690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9" name="stage-num-4">
            <a:extLst xmlns:a="http://schemas.openxmlformats.org/drawingml/2006/main">
              <a:ext uri="{FF2B5EF4-FFF2-40B4-BE49-F238E27FC236}">
                <a16:creationId xmlns:a16="http://schemas.microsoft.com/office/drawing/2014/main" id="{678BAA27-F9CC-4DD5-86B3-7FA531EC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673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05</a:t>
            </a:r>
          </a:p>
        </p:txBody>
      </p:sp>
      <p:sp>
        <p:nvSpPr>
          <p:cNvPr id="3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69097A0D-E3B2-4522-A5C7-1C6044EF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2387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系统集成</a:t>
            </a:r>
          </a:p>
        </p:txBody>
      </p:sp>
      <p:sp>
        <p:nvSpPr>
          <p:cNvPr id="3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69C5B6C2-BAD1-4161-A520-3E0E28EE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7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企业级嵌入</a:t>
            </a:r>
          </a:p>
        </p:txBody>
      </p:sp>
      <p:sp>
        <p:nvSpPr>
          <p:cNvPr id="32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7C52031E-D649-4824-89E3-E89F45D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Source: @jinchenma_ai / X article PDF</a:t>
            </a:r>
          </a:p>
        </p:txBody>
      </p:sp>
      <p:sp>
        <p:nvSpPr>
          <p:cNvPr id="3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8647664-453D-4A2A-BD26-E882F632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2554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1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-shape-shadow">
            <a:extLst xmlns:a="http://schemas.openxmlformats.org/drawingml/2006/main">
              <a:ext uri="{FF2B5EF4-FFF2-40B4-BE49-F238E27FC236}">
                <a16:creationId xmlns:a16="http://schemas.microsoft.com/office/drawing/2014/main" id="{7014541B-3162-45BC-95BE-7AE54CAF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7675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-shape">
            <a:extLst xmlns:a="http://schemas.openxmlformats.org/drawingml/2006/main">
              <a:ext uri="{FF2B5EF4-FFF2-40B4-BE49-F238E27FC236}">
                <a16:creationId xmlns:a16="http://schemas.microsoft.com/office/drawing/2014/main" id="{22B118BE-554A-4BD0-8058-717E1E77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3" name="section-label-text">
            <a:extLst xmlns:a="http://schemas.openxmlformats.org/drawingml/2006/main">
              <a:ext uri="{FF2B5EF4-FFF2-40B4-BE49-F238E27FC236}">
                <a16:creationId xmlns:a16="http://schemas.microsoft.com/office/drawing/2014/main" id="{655F991C-E7FE-43F7-85BB-D58E6FD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最小可用知识库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2FB788-8784-410D-AD17-343B418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5 个目录，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跑出 1 个闭环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F9E0C474-EAB4-4EC2-9AAF-892D353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第一版目标不是完整，而是能被 AI 找到、引用、校准。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5e5d5487e4e38"/>
          <a:srcRect xmlns:a="http://schemas.openxmlformats.org/drawingml/2006/main" l="3100" t="0" r="3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047750"/>
            <a:ext cx="6667500" cy="4000500"/>
          </a:xfrm>
          <a:prstGeom xmlns:a="http://schemas.openxmlformats.org/drawingml/2006/main" prst="roundRect">
            <a:avLst>
              <a:gd name="adj" fmla="val 8095"/>
            </a:avLst>
          </a:prstGeom>
        </p:spPr>
      </p:pic>
      <p:sp>
        <p:nvSpPr>
          <p:cNvPr id="7" name="folder-0-shadow">
            <a:extLst xmlns:a="http://schemas.openxmlformats.org/drawingml/2006/main">
              <a:ext uri="{FF2B5EF4-FFF2-40B4-BE49-F238E27FC236}">
                <a16:creationId xmlns:a16="http://schemas.microsoft.com/office/drawing/2014/main" id="{4BC2D3B6-5EF4-468B-981F-982B14B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lder-0">
            <a:extLst xmlns:a="http://schemas.openxmlformats.org/drawingml/2006/main">
              <a:ext uri="{FF2B5EF4-FFF2-40B4-BE49-F238E27FC236}">
                <a16:creationId xmlns:a16="http://schemas.microsoft.com/office/drawing/2014/main" id="{433EB91B-AF97-4E6B-AC9B-932147B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9" name="folder-tab-0">
            <a:extLst xmlns:a="http://schemas.openxmlformats.org/drawingml/2006/main">
              <a:ext uri="{FF2B5EF4-FFF2-40B4-BE49-F238E27FC236}">
                <a16:creationId xmlns:a16="http://schemas.microsoft.com/office/drawing/2014/main" id="{50BEE302-E438-4E65-884F-2BB4C03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0" name="folder-text-0">
            <a:extLst xmlns:a="http://schemas.openxmlformats.org/drawingml/2006/main">
              <a:ext uri="{FF2B5EF4-FFF2-40B4-BE49-F238E27FC236}">
                <a16:creationId xmlns:a16="http://schemas.microsoft.com/office/drawing/2014/main" id="{DE7ADAC0-F0E9-49CB-A8DF-0396735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/01  企业基础信息</a:t>
            </a:r>
          </a:p>
        </p:txBody>
      </p:sp>
      <p:sp>
        <p:nvSpPr>
          <p:cNvPr id="11" name="folder-1-shadow">
            <a:extLst xmlns:a="http://schemas.openxmlformats.org/drawingml/2006/main">
              <a:ext uri="{FF2B5EF4-FFF2-40B4-BE49-F238E27FC236}">
                <a16:creationId xmlns:a16="http://schemas.microsoft.com/office/drawing/2014/main" id="{BCB3B0E6-730A-4807-BDB7-7EF9733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lder-1">
            <a:extLst xmlns:a="http://schemas.openxmlformats.org/drawingml/2006/main">
              <a:ext uri="{FF2B5EF4-FFF2-40B4-BE49-F238E27FC236}">
                <a16:creationId xmlns:a16="http://schemas.microsoft.com/office/drawing/2014/main" id="{E07F7661-378E-444B-974E-E36DE3A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3" name="folder-tab-1">
            <a:extLst xmlns:a="http://schemas.openxmlformats.org/drawingml/2006/main">
              <a:ext uri="{FF2B5EF4-FFF2-40B4-BE49-F238E27FC236}">
                <a16:creationId xmlns:a16="http://schemas.microsoft.com/office/drawing/2014/main" id="{51E7DCDE-A9DF-4BDC-A256-28988CB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4" name="folder-text-1">
            <a:extLst xmlns:a="http://schemas.openxmlformats.org/drawingml/2006/main">
              <a:ext uri="{FF2B5EF4-FFF2-40B4-BE49-F238E27FC236}">
                <a16:creationId xmlns:a16="http://schemas.microsoft.com/office/drawing/2014/main" id="{B34E8634-C381-4BE7-AF7C-7DFB06E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/02  产品 / 服务资料</a:t>
            </a:r>
          </a:p>
        </p:txBody>
      </p:sp>
      <p:sp>
        <p:nvSpPr>
          <p:cNvPr id="15" name="folder-2-shadow">
            <a:extLst xmlns:a="http://schemas.openxmlformats.org/drawingml/2006/main">
              <a:ext uri="{FF2B5EF4-FFF2-40B4-BE49-F238E27FC236}">
                <a16:creationId xmlns:a16="http://schemas.microsoft.com/office/drawing/2014/main" id="{D524B5EA-D859-4932-BDC3-C9DF401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lder-2">
            <a:extLst xmlns:a="http://schemas.openxmlformats.org/drawingml/2006/main">
              <a:ext uri="{FF2B5EF4-FFF2-40B4-BE49-F238E27FC236}">
                <a16:creationId xmlns:a16="http://schemas.microsoft.com/office/drawing/2014/main" id="{5E359946-D4BC-40CB-90C8-51650BA7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E1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7" name="folder-tab-2">
            <a:extLst xmlns:a="http://schemas.openxmlformats.org/drawingml/2006/main">
              <a:ext uri="{FF2B5EF4-FFF2-40B4-BE49-F238E27FC236}">
                <a16:creationId xmlns:a16="http://schemas.microsoft.com/office/drawing/2014/main" id="{867DA2F7-26C1-4BDA-92FC-411C5EDB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1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8" name="folder-text-2">
            <a:extLst xmlns:a="http://schemas.openxmlformats.org/drawingml/2006/main">
              <a:ext uri="{FF2B5EF4-FFF2-40B4-BE49-F238E27FC236}">
                <a16:creationId xmlns:a16="http://schemas.microsoft.com/office/drawing/2014/main" id="{82D0B947-2B0A-46E8-8913-E059F34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/03  客户真实问题</a:t>
            </a:r>
          </a:p>
        </p:txBody>
      </p:sp>
      <p:sp>
        <p:nvSpPr>
          <p:cNvPr id="19" name="folder-3-shadow">
            <a:extLst xmlns:a="http://schemas.openxmlformats.org/drawingml/2006/main">
              <a:ext uri="{FF2B5EF4-FFF2-40B4-BE49-F238E27FC236}">
                <a16:creationId xmlns:a16="http://schemas.microsoft.com/office/drawing/2014/main" id="{25E0FEA0-2ACC-43C4-ACAD-117FE48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lder-3">
            <a:extLst xmlns:a="http://schemas.openxmlformats.org/drawingml/2006/main">
              <a:ext uri="{FF2B5EF4-FFF2-40B4-BE49-F238E27FC236}">
                <a16:creationId xmlns:a16="http://schemas.microsoft.com/office/drawing/2014/main" id="{3256FAB3-203C-496A-893A-051D64B9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1" name="folder-tab-3">
            <a:extLst xmlns:a="http://schemas.openxmlformats.org/drawingml/2006/main">
              <a:ext uri="{FF2B5EF4-FFF2-40B4-BE49-F238E27FC236}">
                <a16:creationId xmlns:a16="http://schemas.microsoft.com/office/drawing/2014/main" id="{6155C37C-D7B7-4B8A-8702-E76BE40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2" name="folder-text-3">
            <a:extLst xmlns:a="http://schemas.openxmlformats.org/drawingml/2006/main">
              <a:ext uri="{FF2B5EF4-FFF2-40B4-BE49-F238E27FC236}">
                <a16:creationId xmlns:a16="http://schemas.microsoft.com/office/drawing/2014/main" id="{56E32725-00C1-4FFE-A95D-3A4BBF99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/04  案例资料</a:t>
            </a:r>
          </a:p>
        </p:txBody>
      </p:sp>
      <p:sp>
        <p:nvSpPr>
          <p:cNvPr id="23" name="folder-4-shadow">
            <a:extLst xmlns:a="http://schemas.openxmlformats.org/drawingml/2006/main">
              <a:ext uri="{FF2B5EF4-FFF2-40B4-BE49-F238E27FC236}">
                <a16:creationId xmlns:a16="http://schemas.microsoft.com/office/drawing/2014/main" id="{94F47E51-A0DE-4C81-ADAB-5F02391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lder-4">
            <a:extLst xmlns:a="http://schemas.openxmlformats.org/drawingml/2006/main">
              <a:ext uri="{FF2B5EF4-FFF2-40B4-BE49-F238E27FC236}">
                <a16:creationId xmlns:a16="http://schemas.microsoft.com/office/drawing/2014/main" id="{24184D9F-A52F-48C3-A6D8-40EB528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39624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AF7D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5" name="folder-tab-4">
            <a:extLst xmlns:a="http://schemas.openxmlformats.org/drawingml/2006/main">
              <a:ext uri="{FF2B5EF4-FFF2-40B4-BE49-F238E27FC236}">
                <a16:creationId xmlns:a16="http://schemas.microsoft.com/office/drawing/2014/main" id="{248A6A8B-6B78-4CD4-A656-66B60217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D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6" name="folder-text-4">
            <a:extLst xmlns:a="http://schemas.openxmlformats.org/drawingml/2006/main">
              <a:ext uri="{FF2B5EF4-FFF2-40B4-BE49-F238E27FC236}">
                <a16:creationId xmlns:a16="http://schemas.microsoft.com/office/drawing/2014/main" id="{FCC8C37F-1E8A-4FB6-AE1D-107633C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/05  输出规则</a:t>
            </a:r>
          </a:p>
        </p:txBody>
      </p:sp>
      <p:sp>
        <p:nvSpPr>
          <p:cNvPr id="27" name="criterion-bg-shadow">
            <a:extLst xmlns:a="http://schemas.openxmlformats.org/drawingml/2006/main">
              <a:ext uri="{FF2B5EF4-FFF2-40B4-BE49-F238E27FC236}">
                <a16:creationId xmlns:a16="http://schemas.microsoft.com/office/drawing/2014/main" id="{9C66923E-C6F0-4C1F-8487-725D04B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324475"/>
            <a:ext cx="6096000" cy="666750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riterion-bg">
            <a:extLst xmlns:a="http://schemas.openxmlformats.org/drawingml/2006/main">
              <a:ext uri="{FF2B5EF4-FFF2-40B4-BE49-F238E27FC236}">
                <a16:creationId xmlns:a16="http://schemas.microsoft.com/office/drawing/2014/main" id="{E4A3AC92-2897-4B4A-9D26-2343AFC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57800"/>
            <a:ext cx="6096000" cy="666750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9" name="criterion">
            <a:extLst xmlns:a="http://schemas.openxmlformats.org/drawingml/2006/main">
              <a:ext uri="{FF2B5EF4-FFF2-40B4-BE49-F238E27FC236}">
                <a16:creationId xmlns:a16="http://schemas.microsoft.com/office/drawing/2014/main" id="{8466297D-AAA1-4862-856F-7448C1B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673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判断标准：回答是否引用了你的资料，是否更接近真实业务。</a:t>
            </a:r>
          </a:p>
        </p:txBody>
      </p:sp>
      <p:sp>
        <p:nvSpPr>
          <p:cNvPr id="30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2DA23640-A40D-4C20-B702-40833B3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Source: @jinchenma_ai / X article PDF</a:t>
            </a:r>
          </a:p>
        </p:txBody>
      </p:sp>
      <p:sp>
        <p:nvSpPr>
          <p:cNvPr id="3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B415936-7A66-4C18-BA24-0C23523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314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1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-shape-shadow">
            <a:extLst xmlns:a="http://schemas.openxmlformats.org/drawingml/2006/main">
              <a:ext uri="{FF2B5EF4-FFF2-40B4-BE49-F238E27FC236}">
                <a16:creationId xmlns:a16="http://schemas.microsoft.com/office/drawing/2014/main" id="{F2C0A402-7095-43ED-9AB2-9DB80E3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7675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-shape">
            <a:extLst xmlns:a="http://schemas.openxmlformats.org/drawingml/2006/main">
              <a:ext uri="{FF2B5EF4-FFF2-40B4-BE49-F238E27FC236}">
                <a16:creationId xmlns:a16="http://schemas.microsoft.com/office/drawing/2014/main" id="{3E9E8C9B-F9AD-4396-A537-C7F08D60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3" name="section-label-text">
            <a:extLst xmlns:a="http://schemas.openxmlformats.org/drawingml/2006/main">
              <a:ext uri="{FF2B5EF4-FFF2-40B4-BE49-F238E27FC236}">
                <a16:creationId xmlns:a16="http://schemas.microsoft.com/office/drawing/2014/main" id="{E70346EE-3CF7-4641-8778-5F1E74F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今天就能开始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B37976-3E36-4E7D-8AD3-B36D14D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工具不是关键，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反馈才是资产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191677E-6317-4B32-BE09-23D8090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选工具看能不能接入资料、引用来源、沉淀规则。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5f15e36d24c8a"/>
          <a:srcRect xmlns:a="http://schemas.openxmlformats.org/drawingml/2006/main" l="11047" t="0" r="11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723900"/>
            <a:ext cx="5695950" cy="4114800"/>
          </a:xfrm>
          <a:prstGeom xmlns:a="http://schemas.openxmlformats.org/drawingml/2006/main" prst="roundRect">
            <a:avLst>
              <a:gd name="adj" fmla="val 7870"/>
            </a:avLst>
          </a:prstGeom>
        </p:spPr>
      </p:pic>
      <p:sp>
        <p:nvSpPr>
          <p:cNvPr id="7" name="action-0-shadow">
            <a:extLst xmlns:a="http://schemas.openxmlformats.org/drawingml/2006/main">
              <a:ext uri="{FF2B5EF4-FFF2-40B4-BE49-F238E27FC236}">
                <a16:creationId xmlns:a16="http://schemas.microsoft.com/office/drawing/2014/main" id="{02B46143-612B-4F0B-BA22-DD83AACB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9925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tion-0">
            <a:extLst xmlns:a="http://schemas.openxmlformats.org/drawingml/2006/main">
              <a:ext uri="{FF2B5EF4-FFF2-40B4-BE49-F238E27FC236}">
                <a16:creationId xmlns:a16="http://schemas.microsoft.com/office/drawing/2014/main" id="{49A48B04-2940-4BB9-A640-1593F7C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9" name="action-num-0">
            <a:extLst xmlns:a="http://schemas.openxmlformats.org/drawingml/2006/main">
              <a:ext uri="{FF2B5EF4-FFF2-40B4-BE49-F238E27FC236}">
                <a16:creationId xmlns:a16="http://schemas.microsoft.com/office/drawing/2014/main" id="{891DAB36-4679-45B3-9752-C1AD9977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01</a:t>
            </a:r>
          </a:p>
        </p:txBody>
      </p:sp>
      <p:sp>
        <p:nvSpPr>
          <p:cNvPr id="10" name="action-text-0">
            <a:extLst xmlns:a="http://schemas.openxmlformats.org/drawingml/2006/main">
              <a:ext uri="{FF2B5EF4-FFF2-40B4-BE49-F238E27FC236}">
                <a16:creationId xmlns:a16="http://schemas.microsoft.com/office/drawing/2014/main" id="{C396149E-E034-49CF-ACC5-5996C4E3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新建“AI知识库”文件夹</a:t>
            </a:r>
          </a:p>
        </p:txBody>
      </p:sp>
      <p:sp>
        <p:nvSpPr>
          <p:cNvPr id="11" name="action-1-shadow">
            <a:extLst xmlns:a="http://schemas.openxmlformats.org/drawingml/2006/main">
              <a:ext uri="{FF2B5EF4-FFF2-40B4-BE49-F238E27FC236}">
                <a16:creationId xmlns:a16="http://schemas.microsoft.com/office/drawing/2014/main" id="{36235828-0B0B-418F-9707-990142DE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57625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ction-1">
            <a:extLst xmlns:a="http://schemas.openxmlformats.org/drawingml/2006/main">
              <a:ext uri="{FF2B5EF4-FFF2-40B4-BE49-F238E27FC236}">
                <a16:creationId xmlns:a16="http://schemas.microsoft.com/office/drawing/2014/main" id="{1E669C65-0044-4078-B92D-6712AA8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3" name="action-num-1">
            <a:extLst xmlns:a="http://schemas.openxmlformats.org/drawingml/2006/main">
              <a:ext uri="{FF2B5EF4-FFF2-40B4-BE49-F238E27FC236}">
                <a16:creationId xmlns:a16="http://schemas.microsoft.com/office/drawing/2014/main" id="{FDCB2C75-52C3-4548-9C95-CB798E0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02</a:t>
            </a:r>
          </a:p>
        </p:txBody>
      </p:sp>
      <p:sp>
        <p:nvSpPr>
          <p:cNvPr id="14" name="action-text-1">
            <a:extLst xmlns:a="http://schemas.openxmlformats.org/drawingml/2006/main">
              <a:ext uri="{FF2B5EF4-FFF2-40B4-BE49-F238E27FC236}">
                <a16:creationId xmlns:a16="http://schemas.microsoft.com/office/drawing/2014/main" id="{EC921362-A888-4EDD-A627-31CF8EBB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放入 10 份不敏感资料</a:t>
            </a:r>
          </a:p>
        </p:txBody>
      </p:sp>
      <p:sp>
        <p:nvSpPr>
          <p:cNvPr id="15" name="action-2-shadow">
            <a:extLst xmlns:a="http://schemas.openxmlformats.org/drawingml/2006/main">
              <a:ext uri="{FF2B5EF4-FFF2-40B4-BE49-F238E27FC236}">
                <a16:creationId xmlns:a16="http://schemas.microsoft.com/office/drawing/2014/main" id="{A18DFEF8-1913-4CEF-BC3D-D5417196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ion-2">
            <a:extLst xmlns:a="http://schemas.openxmlformats.org/drawingml/2006/main">
              <a:ext uri="{FF2B5EF4-FFF2-40B4-BE49-F238E27FC236}">
                <a16:creationId xmlns:a16="http://schemas.microsoft.com/office/drawing/2014/main" id="{E19977A7-4C00-43C2-8CFE-205561F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E1DB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17" name="action-num-2">
            <a:extLst xmlns:a="http://schemas.openxmlformats.org/drawingml/2006/main">
              <a:ext uri="{FF2B5EF4-FFF2-40B4-BE49-F238E27FC236}">
                <a16:creationId xmlns:a16="http://schemas.microsoft.com/office/drawing/2014/main" id="{624F684D-A6F0-4CE8-BCE9-6BE7517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03</a:t>
            </a:r>
          </a:p>
        </p:txBody>
      </p:sp>
      <p:sp>
        <p:nvSpPr>
          <p:cNvPr id="18" name="action-text-2">
            <a:extLst xmlns:a="http://schemas.openxmlformats.org/drawingml/2006/main">
              <a:ext uri="{FF2B5EF4-FFF2-40B4-BE49-F238E27FC236}">
                <a16:creationId xmlns:a16="http://schemas.microsoft.com/office/drawing/2014/main" id="{8D65FCD8-964B-4185-9410-E9A2328C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拿一个真实问题测试</a:t>
            </a:r>
          </a:p>
        </p:txBody>
      </p:sp>
      <p:sp>
        <p:nvSpPr>
          <p:cNvPr id="19" name="action-3-shadow">
            <a:extLst xmlns:a="http://schemas.openxmlformats.org/drawingml/2006/main">
              <a:ext uri="{FF2B5EF4-FFF2-40B4-BE49-F238E27FC236}">
                <a16:creationId xmlns:a16="http://schemas.microsoft.com/office/drawing/2014/main" id="{FAC50F10-FB76-45C7-9754-9AAD7BF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53025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tion-3">
            <a:extLst xmlns:a="http://schemas.openxmlformats.org/drawingml/2006/main">
              <a:ext uri="{FF2B5EF4-FFF2-40B4-BE49-F238E27FC236}">
                <a16:creationId xmlns:a16="http://schemas.microsoft.com/office/drawing/2014/main" id="{2D80EEC9-E384-46AB-883F-599C6C3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46672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1" name="action-num-3">
            <a:extLst xmlns:a="http://schemas.openxmlformats.org/drawingml/2006/main">
              <a:ext uri="{FF2B5EF4-FFF2-40B4-BE49-F238E27FC236}">
                <a16:creationId xmlns:a16="http://schemas.microsoft.com/office/drawing/2014/main" id="{0BA8AB01-C053-4D94-87F2-336580E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</a:defRPr>
            </a:pPr>
            <a:r>
              <a:rPr sz="1650" b="1">
                <a:solidFill>
                  <a:srgbClr val="2F6FDB"/>
                </a:solidFill>
              </a:rPr>
              <a:t>04</a:t>
            </a:r>
          </a:p>
        </p:txBody>
      </p:sp>
      <p:sp>
        <p:nvSpPr>
          <p:cNvPr id="22" name="action-text-3">
            <a:extLst xmlns:a="http://schemas.openxmlformats.org/drawingml/2006/main">
              <a:ext uri="{FF2B5EF4-FFF2-40B4-BE49-F238E27FC236}">
                <a16:creationId xmlns:a16="http://schemas.microsoft.com/office/drawing/2014/main" id="{48936659-B641-43CA-8D39-8B511B9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把好坏判断写回规则</a:t>
            </a:r>
          </a:p>
        </p:txBody>
      </p:sp>
      <p:sp>
        <p:nvSpPr>
          <p:cNvPr id="23" name="closing-bg-shadow">
            <a:extLst xmlns:a="http://schemas.openxmlformats.org/drawingml/2006/main">
              <a:ext uri="{FF2B5EF4-FFF2-40B4-BE49-F238E27FC236}">
                <a16:creationId xmlns:a16="http://schemas.microsoft.com/office/drawing/2014/main" id="{0446D279-0F69-431A-A9C8-FAE72F5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10175"/>
            <a:ext cx="5695950" cy="857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ing-bg">
            <a:extLst xmlns:a="http://schemas.openxmlformats.org/drawingml/2006/main">
              <a:ext uri="{FF2B5EF4-FFF2-40B4-BE49-F238E27FC236}">
                <a16:creationId xmlns:a16="http://schemas.microsoft.com/office/drawing/2014/main" id="{D715B235-0888-44CA-8F7B-6A1AA21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5695950" cy="857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A4675764-B000-4730-B839-9C6E0FA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53050"/>
            <a:ext cx="508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下一次遇到类似问题，AI 不是从网上重新猜一遍，而是从你的资料里接着往下做。</a:t>
            </a:r>
          </a:p>
        </p:txBody>
      </p:sp>
      <p:sp>
        <p:nvSpPr>
          <p:cNvPr id="26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AE6CCCC3-BC0F-4115-8F55-7304BE9A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Source: @jinchenma_ai / X article PDF</a:t>
            </a:r>
          </a:p>
        </p:txBody>
      </p:sp>
      <p:sp>
        <p:nvSpPr>
          <p:cNvPr id="2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EED5760-060B-40CD-A659-87B83FC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5024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2026-07-08T16:43:07.4640000Z</dcterms:created>
  <dcterms:modified xsi:type="dcterms:W3CDTF">2026-07-08T16:43:07.4650000Z</dcterms:modified>
</coreProperties>
</file>